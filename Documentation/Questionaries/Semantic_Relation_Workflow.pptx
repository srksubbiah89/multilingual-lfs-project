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6400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Relation Analysis — End-to-End Workflow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5212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maps informal job descriptions to ISCO-08 using semantic meaning, not just keywords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241280" y="164592"/>
            <a:ext cx="1737360" cy="27432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0" y="164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 + Agent 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7160" y="1078992"/>
            <a:ext cx="1874520" cy="3566160"/>
          </a:xfrm>
          <a:prstGeom prst="rect">
            <a:avLst/>
          </a:prstGeom>
          <a:solidFill>
            <a:srgbClr val="FFFFFF"/>
          </a:solidFill>
          <a:ln w="2794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" y="1078992"/>
            <a:ext cx="1874520" cy="4114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1" name="Shape 9"/>
          <p:cNvSpPr/>
          <p:nvPr/>
        </p:nvSpPr>
        <p:spPr>
          <a:xfrm>
            <a:off x="192024" y="1152144"/>
            <a:ext cx="274320" cy="2743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" y="1152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1115568"/>
            <a:ext cx="1435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2024" y="1536192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response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10312" y="1837944"/>
            <a:ext cx="1728216" cy="402336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" y="1984248"/>
            <a:ext cx="109728" cy="10972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1892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"أنا مهندس برمجيات"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0312" y="2295144"/>
            <a:ext cx="172821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" y="2441448"/>
            <a:ext cx="109728" cy="10972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23500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fix water pipes"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10312" y="2752344"/>
            <a:ext cx="1728216" cy="402336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" y="2898648"/>
            <a:ext cx="109728" cy="10972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8072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"صيانة سيارات و محركات"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37160" y="4187952"/>
            <a:ext cx="1874520" cy="457200"/>
          </a:xfrm>
          <a:prstGeom prst="rect">
            <a:avLst/>
          </a:prstGeom>
          <a:solidFill>
            <a:srgbClr val="000000"/>
          </a:solidFill>
          <a:ln w="10160">
            <a:solidFill>
              <a:srgbClr val="0D1B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024" y="4242816"/>
            <a:ext cx="694944" cy="201168"/>
          </a:xfrm>
          <a:prstGeom prst="roundRect">
            <a:avLst>
              <a:gd name="adj" fmla="val 54545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" y="424281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23544" y="4224528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languages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011680" y="2862072"/>
            <a:ext cx="201168" cy="0"/>
          </a:xfrm>
          <a:prstGeom prst="line">
            <a:avLst/>
          </a:prstGeom>
          <a:noFill/>
          <a:ln w="25400">
            <a:solidFill>
              <a:srgbClr val="0D1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57984" y="27706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3E"/>
                </a:solidFill>
              </a:rPr>
              <a:t>▶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48840" y="1078992"/>
            <a:ext cx="1874520" cy="3566160"/>
          </a:xfrm>
          <a:prstGeom prst="rect">
            <a:avLst/>
          </a:prstGeom>
          <a:solidFill>
            <a:srgbClr val="FFFFFF"/>
          </a:solidFill>
          <a:ln w="279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148840" y="1078992"/>
            <a:ext cx="187452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Shape 30"/>
          <p:cNvSpPr/>
          <p:nvPr/>
        </p:nvSpPr>
        <p:spPr>
          <a:xfrm>
            <a:off x="2203704" y="1152144"/>
            <a:ext cx="274320" cy="2743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3704" y="1152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514600" y="1115568"/>
            <a:ext cx="1435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&amp;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203704" y="1536192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normalization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21992" y="1837944"/>
            <a:ext cx="1728216" cy="402336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58568" y="198424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04872" y="1892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221992" y="2295144"/>
            <a:ext cx="172821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58568" y="244144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04872" y="23500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 normalize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221992" y="2752344"/>
            <a:ext cx="1728216" cy="402336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58568" y="289864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04872" y="28072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Code-switch resolve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221992" y="3209544"/>
            <a:ext cx="172821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58568" y="335584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04872" y="32644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extraction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148840" y="4187952"/>
            <a:ext cx="1874520" cy="457200"/>
          </a:xfrm>
          <a:prstGeom prst="rect">
            <a:avLst/>
          </a:prstGeom>
          <a:solidFill>
            <a:srgbClr val="00000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03704" y="4242816"/>
            <a:ext cx="694944" cy="201168"/>
          </a:xfrm>
          <a:prstGeom prst="roundRect">
            <a:avLst>
              <a:gd name="adj" fmla="val 5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03704" y="424281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935224" y="4224528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≥98% lang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023360" y="2862072"/>
            <a:ext cx="201168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69664" y="27706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</a:rPr>
              <a:t>▶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160520" y="1078992"/>
            <a:ext cx="1874520" cy="3566160"/>
          </a:xfrm>
          <a:prstGeom prst="rect">
            <a:avLst/>
          </a:prstGeom>
          <a:solidFill>
            <a:srgbClr val="FFFFFF"/>
          </a:solidFill>
          <a:ln w="2794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160520" y="1078992"/>
            <a:ext cx="1874520" cy="4114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6" name="Shape 54"/>
          <p:cNvSpPr/>
          <p:nvPr/>
        </p:nvSpPr>
        <p:spPr>
          <a:xfrm>
            <a:off x="4215384" y="1152144"/>
            <a:ext cx="274320" cy="2743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15384" y="1152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526280" y="1115568"/>
            <a:ext cx="1435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215384" y="1536192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 encoding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233672" y="1837944"/>
            <a:ext cx="1728216" cy="402336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70248" y="198424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16552" y="1892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multilingual-e5-large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233672" y="2295144"/>
            <a:ext cx="172821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70248" y="244144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16552" y="23500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1024-dim vector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233672" y="2752344"/>
            <a:ext cx="1728216" cy="402336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70248" y="289864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16552" y="28072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avg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233672" y="3209544"/>
            <a:ext cx="172821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70248" y="335584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16552" y="32644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fusion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160520" y="4187952"/>
            <a:ext cx="1874520" cy="457200"/>
          </a:xfrm>
          <a:prstGeom prst="rect">
            <a:avLst/>
          </a:prstGeom>
          <a:solidFill>
            <a:srgbClr val="000000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15384" y="4242816"/>
            <a:ext cx="694944" cy="201168"/>
          </a:xfrm>
          <a:prstGeom prst="roundRect">
            <a:avLst>
              <a:gd name="adj" fmla="val 54545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215384" y="424281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4946904" y="4224528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languages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6035040" y="2862072"/>
            <a:ext cx="201168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81344" y="27706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56DB"/>
                </a:solidFill>
              </a:rPr>
              <a:t>▶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172200" y="1078992"/>
            <a:ext cx="1874520" cy="3566160"/>
          </a:xfrm>
          <a:prstGeom prst="rect">
            <a:avLst/>
          </a:prstGeom>
          <a:solidFill>
            <a:srgbClr val="FFFFFF"/>
          </a:solidFill>
          <a:ln w="279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172200" y="1078992"/>
            <a:ext cx="18745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0" name="Shape 78"/>
          <p:cNvSpPr/>
          <p:nvPr/>
        </p:nvSpPr>
        <p:spPr>
          <a:xfrm>
            <a:off x="6227064" y="1152144"/>
            <a:ext cx="274320" cy="2743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27064" y="1152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537960" y="1115568"/>
            <a:ext cx="1435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6227064" y="1536192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ISCO-08 search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245352" y="1837944"/>
            <a:ext cx="1728216" cy="402336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81928" y="198424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28232" y="1892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Major (10)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245352" y="2295144"/>
            <a:ext cx="172821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281928" y="244144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28232" y="23500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Sub-major (43)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245352" y="2752344"/>
            <a:ext cx="1728216" cy="402336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281928" y="289864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428232" y="28072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Minor (130)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6245352" y="3209544"/>
            <a:ext cx="172821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281928" y="335584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428232" y="32644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Unit (436)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6172200" y="4187952"/>
            <a:ext cx="1874520" cy="457200"/>
          </a:xfrm>
          <a:prstGeom prst="rect">
            <a:avLst/>
          </a:prstGeom>
          <a:solidFill>
            <a:srgbClr val="00000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227064" y="4242816"/>
            <a:ext cx="694944" cy="201168"/>
          </a:xfrm>
          <a:prstGeom prst="roundRect">
            <a:avLst>
              <a:gd name="adj" fmla="val 545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227064" y="424281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6958584" y="4224528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filtering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8046720" y="2862072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193024" y="27706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▶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8183880" y="1078992"/>
            <a:ext cx="1874520" cy="3566160"/>
          </a:xfrm>
          <a:prstGeom prst="rect">
            <a:avLst/>
          </a:prstGeom>
          <a:solidFill>
            <a:srgbClr val="FFFFFF"/>
          </a:solidFill>
          <a:ln w="2794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8183880" y="1078992"/>
            <a:ext cx="187452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4" name="Shape 102"/>
          <p:cNvSpPr/>
          <p:nvPr/>
        </p:nvSpPr>
        <p:spPr>
          <a:xfrm>
            <a:off x="8238744" y="1152144"/>
            <a:ext cx="274320" cy="2743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238744" y="1152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8549640" y="1115568"/>
            <a:ext cx="1435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8238744" y="1536192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reasoning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8257032" y="1837944"/>
            <a:ext cx="1728216" cy="402336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293608" y="1984248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439912" y="1892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judge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8257032" y="2295144"/>
            <a:ext cx="172821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293608" y="2441448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439912" y="23500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unit groups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8257032" y="2752344"/>
            <a:ext cx="1728216" cy="402336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293608" y="2898648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439912" y="28072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8257032" y="3209544"/>
            <a:ext cx="172821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293608" y="3355848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439912" y="32644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8183880" y="4187952"/>
            <a:ext cx="1874520" cy="457200"/>
          </a:xfrm>
          <a:prstGeom prst="rect">
            <a:avLst/>
          </a:prstGeom>
          <a:solidFill>
            <a:srgbClr val="000000"/>
          </a:solidFill>
          <a:ln w="10160">
            <a:solidFill>
              <a:srgbClr val="EA580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238744" y="4242816"/>
            <a:ext cx="694944" cy="201168"/>
          </a:xfrm>
          <a:prstGeom prst="roundRect">
            <a:avLst>
              <a:gd name="adj" fmla="val 5454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238744" y="424281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8970264" y="4224528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= 0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10058400" y="2862072"/>
            <a:ext cx="201168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0204704" y="27706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A580C"/>
                </a:solidFill>
              </a:rPr>
              <a:t>▶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10195560" y="1078992"/>
            <a:ext cx="1874520" cy="3566160"/>
          </a:xfrm>
          <a:prstGeom prst="rect">
            <a:avLst/>
          </a:prstGeom>
          <a:solidFill>
            <a:srgbClr val="FFFFFF"/>
          </a:solidFill>
          <a:ln w="2794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7" name="Shape 125"/>
          <p:cNvSpPr/>
          <p:nvPr/>
        </p:nvSpPr>
        <p:spPr>
          <a:xfrm>
            <a:off x="10195560" y="1078992"/>
            <a:ext cx="187452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0250424" y="1152144"/>
            <a:ext cx="274320" cy="2743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0250424" y="1152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10561320" y="1115568"/>
            <a:ext cx="1435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131" name="Text 129"/>
          <p:cNvSpPr/>
          <p:nvPr/>
        </p:nvSpPr>
        <p:spPr>
          <a:xfrm>
            <a:off x="10250424" y="1536192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confidence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10268712" y="1837944"/>
            <a:ext cx="1728216" cy="402336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0305288" y="198424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0451592" y="1892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code returned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10268712" y="2295144"/>
            <a:ext cx="172821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305288" y="244144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451592" y="23500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candidates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10268712" y="2752344"/>
            <a:ext cx="1728216" cy="402336"/>
          </a:xfrm>
          <a:prstGeom prst="rect">
            <a:avLst/>
          </a:prstGeom>
          <a:solidFill>
            <a:srgbClr val="F5F8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305288" y="289864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0451592" y="28072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≥ 0.70 → accept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10268712" y="3209544"/>
            <a:ext cx="172821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305288" y="335584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0451592" y="32644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&lt; 0.70 → HITL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10195560" y="4187952"/>
            <a:ext cx="1874520" cy="457200"/>
          </a:xfrm>
          <a:prstGeom prst="rect">
            <a:avLst/>
          </a:prstGeom>
          <a:solidFill>
            <a:srgbClr val="000000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250424" y="4242816"/>
            <a:ext cx="694944" cy="201168"/>
          </a:xfrm>
          <a:prstGeom prst="roundRect">
            <a:avLst>
              <a:gd name="adj" fmla="val 5454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0250424" y="424281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9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10981944" y="4224528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49" name="Text 147"/>
          <p:cNvSpPr/>
          <p:nvPr/>
        </p:nvSpPr>
        <p:spPr>
          <a:xfrm>
            <a:off x="274320" y="6693408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LFS Conversational AI  |  Semantic Relation Workflow  |  IIIT Kottayam M.Tech Thesis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6400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Engine — How Meaning is Measured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5212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"software engineer" and "مبرمج حاسوب" map to the same ISCO code — the math and logic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1051560"/>
            <a:ext cx="5303520" cy="5623560"/>
          </a:xfrm>
          <a:prstGeom prst="rect">
            <a:avLst/>
          </a:prstGeom>
          <a:solidFill>
            <a:srgbClr val="F8F9FF"/>
          </a:solidFill>
          <a:ln w="2286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051560"/>
            <a:ext cx="5303520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6984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Space — Semantic Clustering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6309360"/>
            <a:ext cx="4846320" cy="0"/>
          </a:xfrm>
          <a:prstGeom prst="line">
            <a:avLst/>
          </a:prstGeom>
          <a:noFill/>
          <a:ln w="15240">
            <a:solidFill>
              <a:srgbClr val="AABB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54480"/>
            <a:ext cx="0" cy="4846320"/>
          </a:xfrm>
          <a:prstGeom prst="line">
            <a:avLst/>
          </a:prstGeom>
          <a:noFill/>
          <a:ln w="15240">
            <a:solidFill>
              <a:srgbClr val="AAB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008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Semantic Axis 1 (Occupation Type)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03120" y="1691640"/>
            <a:ext cx="1280160" cy="1234440"/>
          </a:xfrm>
          <a:prstGeom prst="ellipse">
            <a:avLst/>
          </a:prstGeom>
          <a:solidFill>
            <a:srgbClr val="1A56DB">
              <a:alpha val="12000"/>
            </a:srgbClr>
          </a:solidFill>
          <a:ln w="15240">
            <a:solidFill>
              <a:srgbClr val="1A56D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920240" y="2971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25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Professionals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60320" y="2011680"/>
            <a:ext cx="128016" cy="12801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06624" y="19933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880360" y="224028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26664" y="22219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مبرمج حاسوب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331720" y="2423160"/>
            <a:ext cx="128016" cy="12801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78024" y="2404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developer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017520" y="192024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63824" y="1901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تطوير تطبيقات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651760" y="2606040"/>
            <a:ext cx="128016" cy="12801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98064" y="25877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specialist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85800" y="3246120"/>
            <a:ext cx="1097280" cy="1188720"/>
          </a:xfrm>
          <a:prstGeom prst="ellipse">
            <a:avLst/>
          </a:prstGeom>
          <a:solidFill>
            <a:srgbClr val="EA580C">
              <a:alpha val="12000"/>
            </a:srgbClr>
          </a:solidFill>
          <a:ln w="15240">
            <a:solidFill>
              <a:srgbClr val="EA580C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02920" y="4480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71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Trades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005840" y="3566160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52144" y="35478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plumber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280160" y="3840480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26464" y="3822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سباك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22960" y="4114800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" y="40965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fitter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417320" y="3429000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63624" y="34107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تركيب أنابيب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154680" y="3520440"/>
            <a:ext cx="1097280" cy="1143000"/>
          </a:xfrm>
          <a:prstGeom prst="ellipse">
            <a:avLst/>
          </a:prstGeom>
          <a:solidFill>
            <a:srgbClr val="059669">
              <a:alpha val="12000"/>
            </a:srgbClr>
          </a:solidFill>
          <a:ln w="15240">
            <a:solidFill>
              <a:srgbClr val="059669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3017520" y="4709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1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474720" y="4023360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21024" y="40050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840480" y="374904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86784" y="37307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مدير عام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291840" y="4297680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38144" y="42793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manager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624328" y="2075688"/>
            <a:ext cx="320040" cy="22860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18588" y="2061972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18588" y="206197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sim=0.97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56032" y="5303520"/>
            <a:ext cx="5138928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472" y="5394960"/>
            <a:ext cx="164592" cy="16459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537667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input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084832" y="539496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0" y="537667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input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822192" y="5394960"/>
            <a:ext cx="164592" cy="164592"/>
          </a:xfrm>
          <a:prstGeom prst="ellipse">
            <a:avLst/>
          </a:prstGeom>
          <a:solidFill>
            <a:srgbClr val="AABBD0"/>
          </a:solidFill>
          <a:ln w="12700">
            <a:solidFill>
              <a:srgbClr val="AABB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23360" y="537667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boundary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715000" y="1051560"/>
            <a:ext cx="3383280" cy="5623560"/>
          </a:xfrm>
          <a:prstGeom prst="rect">
            <a:avLst/>
          </a:prstGeom>
          <a:solidFill>
            <a:srgbClr val="FAFBFF"/>
          </a:solidFill>
          <a:ln w="2286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715000" y="1051560"/>
            <a:ext cx="338328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5" name="Text 53"/>
          <p:cNvSpPr/>
          <p:nvPr/>
        </p:nvSpPr>
        <p:spPr>
          <a:xfrm>
            <a:off x="5788152" y="1069848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Relation Types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788152" y="1481328"/>
            <a:ext cx="3236976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0D8F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24728" y="1700784"/>
            <a:ext cx="292608" cy="29260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24728" y="1700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163056" y="1536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163056" y="1737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meaning, different words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163056" y="1920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"software developer" / "مطور برمجيات"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8046720" y="1591056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46720" y="15910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2512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046720" y="188366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sim=0.97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788152" y="2286000"/>
            <a:ext cx="3236976" cy="731520"/>
          </a:xfrm>
          <a:prstGeom prst="rect">
            <a:avLst/>
          </a:prstGeom>
          <a:solidFill>
            <a:srgbClr val="F5F4FF"/>
          </a:solidFill>
          <a:ln w="10160">
            <a:solidFill>
              <a:srgbClr val="E0D8F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824728" y="250545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24728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⊃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163056" y="2340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HYPERNYMY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163056" y="2542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→ Specific (hierarchy)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163056" y="2724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"works in IT" / "أعمل في تقنية المعلومات"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8046720" y="2395728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46720" y="23957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25xx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046720" y="268833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sim=0.85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788152" y="3090672"/>
            <a:ext cx="3236976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0D8F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24728" y="3310128"/>
            <a:ext cx="292608" cy="29260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24728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163056" y="31455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DESCRIPTION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163056" y="33467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Duties → Occupation mapping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6163056" y="3529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fix water pipes and valves" / "أصلح الأنابيب"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8046720" y="320040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046720" y="320040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7126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046720" y="349300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sim=0.91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5788152" y="3895344"/>
            <a:ext cx="3236976" cy="731520"/>
          </a:xfrm>
          <a:prstGeom prst="rect">
            <a:avLst/>
          </a:prstGeom>
          <a:solidFill>
            <a:srgbClr val="F5F4FF"/>
          </a:solidFill>
          <a:ln w="10160">
            <a:solidFill>
              <a:srgbClr val="E0D8F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24728" y="4114800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824728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6163056" y="39502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163056" y="41513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 across languages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163056" y="43342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"mechanic" (EN) / "ميكانيكي" (AR)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8046720" y="4005072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046720" y="40050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7231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8046720" y="42976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sim=0.95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5788152" y="4700016"/>
            <a:ext cx="3236976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0D8F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824728" y="4919472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824728" y="4919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6163056" y="47548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163056" y="4956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resolves ambiguity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6163056" y="51389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teach" + sector=education / "أدرّس" + ISCED-3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8046720" y="4809744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046720" y="480974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2330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8046720" y="51023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sim=0.88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5788152" y="5504688"/>
            <a:ext cx="3236976" cy="731520"/>
          </a:xfrm>
          <a:prstGeom prst="rect">
            <a:avLst/>
          </a:prstGeom>
          <a:solidFill>
            <a:srgbClr val="F5F4FF"/>
          </a:solidFill>
          <a:ln w="10160">
            <a:solidFill>
              <a:srgbClr val="E0D8F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824728" y="5724144"/>
            <a:ext cx="292608" cy="29260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824728" y="5724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6163056" y="5559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DIALECTAL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6163056" y="5760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Gulf/MSA Arabic normalised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6163056" y="5943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"شغّال بالحكومة" / "موظف حكومي"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8046720" y="5614416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046720" y="561441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4415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8046720" y="590702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sim=0.89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9281160" y="1051560"/>
            <a:ext cx="2743200" cy="5623560"/>
          </a:xfrm>
          <a:prstGeom prst="rect">
            <a:avLst/>
          </a:prstGeom>
          <a:solidFill>
            <a:srgbClr val="FFFBF5"/>
          </a:solidFill>
          <a:ln w="2286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9281160" y="1051560"/>
            <a:ext cx="2743200" cy="3474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2" name="Text 110"/>
          <p:cNvSpPr/>
          <p:nvPr/>
        </p:nvSpPr>
        <p:spPr>
          <a:xfrm>
            <a:off x="9354312" y="1069848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9345168" y="1463040"/>
            <a:ext cx="2615184" cy="960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400032" y="148132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Formula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9400032" y="1700784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 = mean(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sim₁, sim₂, sim₃, sim₄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× llm_score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9345168" y="2542032"/>
            <a:ext cx="2615184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0D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345168" y="2542032"/>
            <a:ext cx="73152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454896" y="25786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0.9–1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9454896" y="277977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10168128" y="263347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Auto-accept, high confidence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9345168" y="3127248"/>
            <a:ext cx="2615184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0D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345168" y="3127248"/>
            <a:ext cx="731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454896" y="316382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0.8–0.9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9454896" y="33649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10168128" y="321868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 + show top-2 alternatives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9345168" y="3712464"/>
            <a:ext cx="2615184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0D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345168" y="3712464"/>
            <a:ext cx="73152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454896" y="37490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0.7–0.8</a:t>
            </a:r>
            <a:endParaRPr lang="en-US" sz="1000" dirty="0"/>
          </a:p>
        </p:txBody>
      </p:sp>
      <p:sp>
        <p:nvSpPr>
          <p:cNvPr id="129" name="Text 127"/>
          <p:cNvSpPr/>
          <p:nvPr/>
        </p:nvSpPr>
        <p:spPr>
          <a:xfrm>
            <a:off x="9454896" y="39502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10168128" y="380390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+ request confirmation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9345168" y="4297680"/>
            <a:ext cx="2615184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0D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345168" y="4297680"/>
            <a:ext cx="73152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9454896" y="433425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0.5–0.7</a:t>
            </a:r>
            <a:endParaRPr lang="en-US" sz="1000" dirty="0"/>
          </a:p>
        </p:txBody>
      </p:sp>
      <p:sp>
        <p:nvSpPr>
          <p:cNvPr id="134" name="Text 132"/>
          <p:cNvSpPr/>
          <p:nvPr/>
        </p:nvSpPr>
        <p:spPr>
          <a:xfrm>
            <a:off x="9454896" y="453542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750" dirty="0"/>
          </a:p>
        </p:txBody>
      </p:sp>
      <p:sp>
        <p:nvSpPr>
          <p:cNvPr id="135" name="Text 133"/>
          <p:cNvSpPr/>
          <p:nvPr/>
        </p:nvSpPr>
        <p:spPr>
          <a:xfrm>
            <a:off x="10168128" y="438912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escalate → human review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9345168" y="4882896"/>
            <a:ext cx="2615184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0D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345168" y="4882896"/>
            <a:ext cx="73152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454896" y="491947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0–0.5</a:t>
            </a:r>
            <a:endParaRPr lang="en-US" sz="1000" dirty="0"/>
          </a:p>
        </p:txBody>
      </p:sp>
      <p:sp>
        <p:nvSpPr>
          <p:cNvPr id="139" name="Text 137"/>
          <p:cNvSpPr/>
          <p:nvPr/>
        </p:nvSpPr>
        <p:spPr>
          <a:xfrm>
            <a:off x="9454896" y="51206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10168128" y="497433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HITL + re-probe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9308592" y="3712464"/>
            <a:ext cx="2761488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142" name="Text 140"/>
          <p:cNvSpPr/>
          <p:nvPr/>
        </p:nvSpPr>
        <p:spPr>
          <a:xfrm>
            <a:off x="9345168" y="546811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threshold = 0.70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44" name="Text 142"/>
          <p:cNvSpPr/>
          <p:nvPr/>
        </p:nvSpPr>
        <p:spPr>
          <a:xfrm>
            <a:off x="274320" y="6693408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LFS Conversational AI  |  Semantic Relation Analysis  |  IIIT Kottayam M.Tech Thesis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vs Claude Code — What to Use for What?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guidance on which environment to use for each part of your thesis 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0" y="1097280"/>
            <a:ext cx="9418320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07008"/>
            <a:ext cx="5852160" cy="5440680"/>
          </a:xfrm>
          <a:prstGeom prst="rect">
            <a:avLst/>
          </a:prstGeom>
          <a:solidFill>
            <a:srgbClr val="142040"/>
          </a:solidFill>
          <a:ln w="2794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07008"/>
            <a:ext cx="5852160" cy="4572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22529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Claude.ai (This Chat)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48132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slides, diagrams, writing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5669280" cy="658368"/>
          </a:xfrm>
          <a:prstGeom prst="rect">
            <a:avLst/>
          </a:prstGeom>
          <a:solidFill>
            <a:srgbClr val="1A2E5A"/>
          </a:solidFill>
          <a:ln w="8890">
            <a:solidFill>
              <a:srgbClr val="1A56DB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" y="1975104"/>
            <a:ext cx="237744" cy="219456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" y="19751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9224" y="1810512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chapter writing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" y="2048256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Introduction, Literature Review, Methodology chapters — polished academic prose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468880"/>
            <a:ext cx="5669280" cy="658368"/>
          </a:xfrm>
          <a:prstGeom prst="rect">
            <a:avLst/>
          </a:prstGeom>
          <a:solidFill>
            <a:srgbClr val="122048"/>
          </a:solidFill>
          <a:ln w="8890">
            <a:solidFill>
              <a:srgbClr val="1A56DB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" y="2688336"/>
            <a:ext cx="237744" cy="219456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" y="26883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9224" y="2523744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slides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" y="2761488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diagrams, workflow slides, review presentations — like this deck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182112"/>
            <a:ext cx="5669280" cy="658368"/>
          </a:xfrm>
          <a:prstGeom prst="rect">
            <a:avLst/>
          </a:prstGeom>
          <a:solidFill>
            <a:srgbClr val="1A2E5A"/>
          </a:solidFill>
          <a:ln w="8890">
            <a:solidFill>
              <a:srgbClr val="1A56DB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" y="3401568"/>
            <a:ext cx="237744" cy="219456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" y="340156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9224" y="3236976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documents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" y="3474720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.docx, proposal revisions, supervisor feedback integration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895344"/>
            <a:ext cx="5669280" cy="658368"/>
          </a:xfrm>
          <a:prstGeom prst="rect">
            <a:avLst/>
          </a:prstGeom>
          <a:solidFill>
            <a:srgbClr val="122048"/>
          </a:solidFill>
          <a:ln w="8890">
            <a:solidFill>
              <a:srgbClr val="1A56DB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616" y="4114800"/>
            <a:ext cx="237744" cy="219456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" y="411480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9224" y="3950208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" y="4187952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synthesis, gap analysis, 35+ paper summaries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4608576"/>
            <a:ext cx="5669280" cy="658368"/>
          </a:xfrm>
          <a:prstGeom prst="rect">
            <a:avLst/>
          </a:prstGeom>
          <a:solidFill>
            <a:srgbClr val="1A2E5A"/>
          </a:solidFill>
          <a:ln w="8890">
            <a:solidFill>
              <a:srgbClr val="1A56DB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" y="4828032"/>
            <a:ext cx="237744" cy="219456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" y="482803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9224" y="4663440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planning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" y="4901184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milestones, evaluation framework design, RQ formulation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5321808"/>
            <a:ext cx="5669280" cy="658368"/>
          </a:xfrm>
          <a:prstGeom prst="rect">
            <a:avLst/>
          </a:prstGeom>
          <a:solidFill>
            <a:srgbClr val="122048"/>
          </a:solidFill>
          <a:ln w="8890">
            <a:solidFill>
              <a:srgbClr val="1A56DB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6616" y="5541264"/>
            <a:ext cx="237744" cy="219456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" y="554126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9224" y="5376672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concepts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" y="5614416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RAG works, HITL strategies, agent design patterns — quick answers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6126480"/>
            <a:ext cx="5669280" cy="40233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6616" y="6144768"/>
            <a:ext cx="5596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for: WRITING, PLANNING, VISUAL DOCS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1207008"/>
            <a:ext cx="5852160" cy="5440680"/>
          </a:xfrm>
          <a:prstGeom prst="rect">
            <a:avLst/>
          </a:prstGeom>
          <a:solidFill>
            <a:srgbClr val="142040"/>
          </a:solidFill>
          <a:ln w="2794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55080" y="1207008"/>
            <a:ext cx="585216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122529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Claude Code (Terminal)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46520" y="148132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Implementing, running, debugging code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46520" y="1755648"/>
            <a:ext cx="5669280" cy="658368"/>
          </a:xfrm>
          <a:prstGeom prst="rect">
            <a:avLst/>
          </a:prstGeom>
          <a:solidFill>
            <a:srgbClr val="1A2E5A"/>
          </a:solidFill>
          <a:ln w="8890">
            <a:solidFill>
              <a:srgbClr val="EA580C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83096" y="1975104"/>
            <a:ext cx="237744" cy="21945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83096" y="19751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75704" y="1810512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implementation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775704" y="2048256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rag_agent.py — vector indexing, retrieval, re-ranking, confidence scoring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446520" y="2468880"/>
            <a:ext cx="5669280" cy="658368"/>
          </a:xfrm>
          <a:prstGeom prst="rect">
            <a:avLst/>
          </a:prstGeom>
          <a:solidFill>
            <a:srgbClr val="122048"/>
          </a:solidFill>
          <a:ln w="8890">
            <a:solidFill>
              <a:srgbClr val="EA580C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83096" y="2688336"/>
            <a:ext cx="237744" cy="21945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83096" y="26883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775704" y="2523744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agent setup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775704" y="2761488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agents with tools, tasks, crews — Python code that actually runs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446520" y="3182112"/>
            <a:ext cx="5669280" cy="658368"/>
          </a:xfrm>
          <a:prstGeom prst="rect">
            <a:avLst/>
          </a:prstGeom>
          <a:solidFill>
            <a:srgbClr val="1A2E5A"/>
          </a:solidFill>
          <a:ln w="8890">
            <a:solidFill>
              <a:srgbClr val="EA580C">
                <a:alpha val="3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83096" y="3401568"/>
            <a:ext cx="237744" cy="21945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83096" y="340156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775704" y="3236976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DB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775704" y="3474720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ISCO-08/ISIC/ISCED knowledge bases, run similarity searches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446520" y="3895344"/>
            <a:ext cx="5669280" cy="658368"/>
          </a:xfrm>
          <a:prstGeom prst="rect">
            <a:avLst/>
          </a:prstGeom>
          <a:solidFill>
            <a:srgbClr val="122048"/>
          </a:solidFill>
          <a:ln w="8890">
            <a:solidFill>
              <a:srgbClr val="EA580C">
                <a:alpha val="3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83096" y="4114800"/>
            <a:ext cx="237744" cy="21945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83096" y="411480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775704" y="3950208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775704" y="4187952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evaluation.py — BM25 vs Flat vs Hierarchical RAG comparison, metrics computation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446520" y="4608576"/>
            <a:ext cx="5669280" cy="658368"/>
          </a:xfrm>
          <a:prstGeom prst="rect">
            <a:avLst/>
          </a:prstGeom>
          <a:solidFill>
            <a:srgbClr val="1A2E5A"/>
          </a:solidFill>
          <a:ln w="8890">
            <a:solidFill>
              <a:srgbClr val="EA580C">
                <a:alpha val="3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83096" y="4828032"/>
            <a:ext cx="237744" cy="21945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83096" y="482803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775704" y="4663440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775704" y="4901184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API, WebSocket real-time chat, survey session management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446520" y="5321808"/>
            <a:ext cx="5669280" cy="658368"/>
          </a:xfrm>
          <a:prstGeom prst="rect">
            <a:avLst/>
          </a:prstGeom>
          <a:solidFill>
            <a:srgbClr val="122048"/>
          </a:solidFill>
          <a:ln w="8890">
            <a:solidFill>
              <a:srgbClr val="EA580C">
                <a:alpha val="3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483096" y="5541264"/>
            <a:ext cx="237744" cy="21945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83096" y="554126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775704" y="5376672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testing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775704" y="5614416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demo_pipeline.py — mock mode, no API key — run end-to-end tests locally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446520" y="6126480"/>
            <a:ext cx="5669280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83096" y="6144768"/>
            <a:ext cx="5596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for: CODE, RUNNING, DEBUGGING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852160" y="3200400"/>
            <a:ext cx="457200" cy="457200"/>
          </a:xfrm>
          <a:prstGeom prst="ellipse">
            <a:avLst/>
          </a:prstGeom>
          <a:solidFill>
            <a:srgbClr val="1A2E5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521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28600" y="6583680"/>
            <a:ext cx="11704320" cy="201168"/>
          </a:xfrm>
          <a:prstGeom prst="rect">
            <a:avLst/>
          </a:prstGeom>
          <a:solidFill>
            <a:srgbClr val="0A1530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0040" y="6592824"/>
            <a:ext cx="1152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Recommendation: Use Claude.ai to DESIGN and PLAN → Send architecture + requirements to Claude Code to IMPLEMENT → Come back here to document results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2026-03-08T01:03:48Z</dcterms:created>
  <dcterms:modified xsi:type="dcterms:W3CDTF">2026-03-08T01:03:48Z</dcterms:modified>
</cp:coreProperties>
</file>