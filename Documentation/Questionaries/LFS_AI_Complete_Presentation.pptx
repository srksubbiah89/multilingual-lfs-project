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035040"/>
            <a:ext cx="12161520" cy="822960"/>
          </a:xfrm>
          <a:prstGeom prst="rect">
            <a:avLst/>
          </a:prstGeom>
          <a:solidFill>
            <a:srgbClr val="0A15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PROBLEM. ONE SYSTEM.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describes their job.</a:t>
            </a:r>
            <a:endParaRPr lang="en-US" sz="2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understands, codes, and validates — automatically.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2240280"/>
            <a:ext cx="85039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3291840" cy="2011680"/>
          </a:xfrm>
          <a:prstGeom prst="rect">
            <a:avLst/>
          </a:prstGeom>
          <a:solidFill>
            <a:srgbClr val="1A2E5A"/>
          </a:solidFill>
          <a:ln w="254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423160"/>
            <a:ext cx="91440" cy="2011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" y="29443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says: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fix water pipes"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36210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English / Urdu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Dialect / Mixed language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58768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89120" y="2423160"/>
            <a:ext cx="3291840" cy="2011680"/>
          </a:xfrm>
          <a:prstGeom prst="rect">
            <a:avLst/>
          </a:prstGeom>
          <a:solidFill>
            <a:srgbClr val="1A2E5A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2423160"/>
            <a:ext cx="91440" cy="20116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53712" y="29443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processes: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working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53712" y="36210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→ RAG → Validate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→ HITL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99248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29600" y="2423160"/>
            <a:ext cx="3291840" cy="2011680"/>
          </a:xfrm>
          <a:prstGeom prst="rect">
            <a:avLst/>
          </a:prstGeom>
          <a:solidFill>
            <a:srgbClr val="1A2E5A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2423160"/>
            <a:ext cx="91440" cy="2011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94192" y="29443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7126  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94192" y="362102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(confidence 0.94)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Auto-accepted + stored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0" y="4663440"/>
            <a:ext cx="2103120" cy="1143000"/>
          </a:xfrm>
          <a:prstGeom prst="rect">
            <a:avLst/>
          </a:prstGeom>
          <a:solidFill>
            <a:srgbClr val="0F1F40"/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371600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463040" y="52303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Agents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30752" y="4663440"/>
            <a:ext cx="2103120" cy="1143000"/>
          </a:xfrm>
          <a:prstGeom prst="rect">
            <a:avLst/>
          </a:prstGeom>
          <a:solidFill>
            <a:srgbClr val="0F1F40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730752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822192" y="52303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9904" y="4663440"/>
            <a:ext cx="2103120" cy="1143000"/>
          </a:xfrm>
          <a:prstGeom prst="rect">
            <a:avLst/>
          </a:prstGeom>
          <a:solidFill>
            <a:srgbClr val="0F1F40"/>
          </a:solidFill>
          <a:ln w="2286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89904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181344" y="52303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ISCO-08 Unit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Coded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49056" y="4663440"/>
            <a:ext cx="2103120" cy="1143000"/>
          </a:xfrm>
          <a:prstGeom prst="rect">
            <a:avLst/>
          </a:prstGeom>
          <a:solidFill>
            <a:srgbClr val="0F1F40"/>
          </a:solidFill>
          <a:ln w="2286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49056" y="4709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540496" y="52303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Accuracy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61081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Thesis  |  IIIT Kottayam 2026  |  Supervisor: Dr. Goutam Mali  |  Multilingual Conversational AI for Labour Force Surveys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7315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Why This System Exists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56032" y="5212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F2F survey vs AI-powered conversational system — same data, better quality, lower cost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051560"/>
            <a:ext cx="5623560" cy="5486400"/>
          </a:xfrm>
          <a:prstGeom prst="rect">
            <a:avLst/>
          </a:prstGeom>
          <a:solidFill>
            <a:srgbClr val="FFFFFF"/>
          </a:solidFill>
          <a:ln w="2286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51560"/>
            <a:ext cx="562356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69848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TRADITIONAL METHOD  (Before)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536192"/>
            <a:ext cx="5468112" cy="594360"/>
          </a:xfrm>
          <a:prstGeom prst="rect">
            <a:avLst/>
          </a:prstGeom>
          <a:solidFill>
            <a:srgbClr val="FFF5F5"/>
          </a:solidFill>
          <a:ln w="8890">
            <a:solidFill>
              <a:srgbClr val="FF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733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" y="1572768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Interviewer visits home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" y="181051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Travel cost, safety risk, scheduling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194560"/>
            <a:ext cx="5468112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317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" y="2231136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Paper/tablet questionnaire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" y="246888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Fixed language — no Arabic dialect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852928"/>
            <a:ext cx="5468112" cy="594360"/>
          </a:xfrm>
          <a:prstGeom prst="rect">
            <a:avLst/>
          </a:prstGeom>
          <a:solidFill>
            <a:srgbClr val="FFF5F5"/>
          </a:solidFill>
          <a:ln w="8890">
            <a:solidFill>
              <a:srgbClr val="FF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" y="288950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min interview duration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4944" y="3127248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Respondent fatigue, doorstep refusal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511296"/>
            <a:ext cx="5468112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6484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" y="3547872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occupation coding later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4944" y="3785616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75–85% accuracy, human error, slow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4169664"/>
            <a:ext cx="5468112" cy="594360"/>
          </a:xfrm>
          <a:prstGeom prst="rect">
            <a:avLst/>
          </a:prstGeom>
          <a:solidFill>
            <a:srgbClr val="FFF5F5"/>
          </a:solidFill>
          <a:ln w="8890">
            <a:solidFill>
              <a:srgbClr val="FF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068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" y="4206240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item nonresponse rate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" y="4443984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Missing data, expensive imputation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4828032"/>
            <a:ext cx="5468112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FF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9651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944" y="4864608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validation (weeks later)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" y="5102352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Errors found too late to fix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5486400"/>
            <a:ext cx="5468112" cy="594360"/>
          </a:xfrm>
          <a:prstGeom prst="rect">
            <a:avLst/>
          </a:prstGeom>
          <a:solidFill>
            <a:srgbClr val="FFF5F5"/>
          </a:solidFill>
          <a:ln w="8890">
            <a:solidFill>
              <a:srgbClr val="FFD0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5623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4944" y="5522976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operational cost per survey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" y="576072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Interviewer salary + logistics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89320" y="1051560"/>
            <a:ext cx="5989320" cy="5486400"/>
          </a:xfrm>
          <a:prstGeom prst="rect">
            <a:avLst/>
          </a:prstGeom>
          <a:solidFill>
            <a:srgbClr val="FFFFFF"/>
          </a:solidFill>
          <a:ln w="2286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989320" y="1051560"/>
            <a:ext cx="5989320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1069848"/>
            <a:ext cx="580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CONVERSATIONAL SYSTEM  (After)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1536192"/>
            <a:ext cx="5833872" cy="594360"/>
          </a:xfrm>
          <a:prstGeom prst="rect">
            <a:avLst/>
          </a:prstGeom>
          <a:solidFill>
            <a:srgbClr val="F0FFF8"/>
          </a:solidFill>
          <a:ln w="8890">
            <a:solidFill>
              <a:srgbClr val="C0E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16733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10528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answers on their phone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10528" y="1810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travel, no strangers, safe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378440" y="1664208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78440" y="166420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35–50% cost saving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062472" y="2194560"/>
            <a:ext cx="5833872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0E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23317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10528" y="22311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languages + dialect support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10528" y="24688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Arabic, English, Urdu, Hindi, Tagalog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0378440" y="2322576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378440" y="232257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≥92% code-switch F1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062472" y="2852928"/>
            <a:ext cx="5833872" cy="594360"/>
          </a:xfrm>
          <a:prstGeom prst="rect">
            <a:avLst/>
          </a:prstGeom>
          <a:solidFill>
            <a:srgbClr val="F0FFF8"/>
          </a:solidFill>
          <a:ln w="8890">
            <a:solidFill>
              <a:srgbClr val="C0EE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2990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10528" y="28895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min average completion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510528" y="31272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Person register pre-fills 40–50% of Q's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378440" y="2980944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378440" y="29809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time reduction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062472" y="3511296"/>
            <a:ext cx="5833872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0EE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0" y="36484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10528" y="35478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ISCO-08 coding at Q.C5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510528" y="3785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4-stage hierarchical RAG pipeline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0378440" y="3639312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378440" y="36393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≥85% top-1 accuracy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062472" y="4169664"/>
            <a:ext cx="5833872" cy="594360"/>
          </a:xfrm>
          <a:prstGeom prst="rect">
            <a:avLst/>
          </a:prstGeom>
          <a:solidFill>
            <a:srgbClr val="F0FFF8"/>
          </a:solidFill>
          <a:ln w="8890">
            <a:solidFill>
              <a:srgbClr val="C0EED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126480" y="43068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510528" y="42062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validation every response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510528" y="44439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Contradictions caught immediately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0378440" y="4297680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378440" y="42976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error reduction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062472" y="4828032"/>
            <a:ext cx="5833872" cy="594360"/>
          </a:xfrm>
          <a:prstGeom prst="rect">
            <a:avLst/>
          </a:prstGeom>
          <a:solidFill>
            <a:srgbClr val="FFFFFF"/>
          </a:solidFill>
          <a:ln w="8890">
            <a:solidFill>
              <a:srgbClr val="C0EED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26480" y="49651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510528" y="4864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data quality feedback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510528" y="51023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Agent 7 validates as interview runs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0378440" y="4956048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378440" y="49560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post-survey lag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062472" y="5486400"/>
            <a:ext cx="5833872" cy="594360"/>
          </a:xfrm>
          <a:prstGeom prst="rect">
            <a:avLst/>
          </a:prstGeom>
          <a:solidFill>
            <a:srgbClr val="F0FFF8"/>
          </a:solidFill>
          <a:ln w="8890">
            <a:solidFill>
              <a:srgbClr val="C0EE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26480" y="562356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510528" y="5522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cost, higher coverage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6510528" y="5760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Scale to thousands simultaneously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0378440" y="5614416"/>
            <a:ext cx="1536192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378440" y="561441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50–70% less manual work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4" name="Text 82"/>
          <p:cNvSpPr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 |  Multilingual Conversational AI  |  IIIT Kottayam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7315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Respondent Sees — Live Chat Interface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56032" y="5212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chat screen on mobile/web | Agent 2 drives the conversation | Feels like WhatsApp, not a survey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3840480" cy="5577840"/>
          </a:xfrm>
          <a:prstGeom prst="roundRect">
            <a:avLst>
              <a:gd name="adj" fmla="val 5952"/>
            </a:avLst>
          </a:prstGeom>
          <a:solidFill>
            <a:srgbClr val="1E293B"/>
          </a:solidFill>
          <a:ln w="254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490472"/>
            <a:ext cx="3621024" cy="498348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9" name="Shape 7"/>
          <p:cNvSpPr/>
          <p:nvPr/>
        </p:nvSpPr>
        <p:spPr>
          <a:xfrm>
            <a:off x="1737360" y="1152144"/>
            <a:ext cx="1097280" cy="201168"/>
          </a:xfrm>
          <a:prstGeom prst="roundRect">
            <a:avLst>
              <a:gd name="adj" fmla="val 36364"/>
            </a:avLst>
          </a:prstGeom>
          <a:solidFill>
            <a:srgbClr val="445566"/>
          </a:solidFill>
          <a:ln w="12700">
            <a:solidFill>
              <a:srgbClr val="4455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490472"/>
            <a:ext cx="362102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087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UAE LFS Survey  |  🌐 English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0352" y="1883664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F0F4FF"/>
          </a:solidFill>
          <a:ln w="10160">
            <a:solidFill>
              <a:srgbClr val="D0D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92938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مرحباً! أنا مساعد المسح الذكي.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I'm your survey assistant.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your preferred language below 👇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371600" y="2523744"/>
            <a:ext cx="2651760" cy="530352"/>
          </a:xfrm>
          <a:prstGeom prst="roundRect">
            <a:avLst>
              <a:gd name="adj" fmla="val 20690"/>
            </a:avLst>
          </a:prstGeom>
          <a:solidFill>
            <a:srgbClr val="0D9488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256946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English  🇦🇪 Arabic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🇵🇰 Urdu  🇮🇳 Hindi  🇵🇭 Filipino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30352" y="3163824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F0F4FF"/>
          </a:solidFill>
          <a:ln w="10160">
            <a:solidFill>
              <a:srgbClr val="D0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20954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Great! Switching to English 🇬🇧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info is pre-filled from records.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job title still: Software Engineer?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371600" y="3877056"/>
            <a:ext cx="2651760" cy="530352"/>
          </a:xfrm>
          <a:prstGeom prst="roundRect">
            <a:avLst>
              <a:gd name="adj" fmla="val 20690"/>
            </a:avLst>
          </a:prstGeom>
          <a:solidFill>
            <a:srgbClr val="1A56DB"/>
          </a:solidFill>
          <a:ln w="1016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3922776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but I also do mobile apps now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334256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F0F4FF"/>
          </a:solidFill>
          <a:ln w="10160">
            <a:solidFill>
              <a:srgbClr val="D0D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379976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it! So you develop software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mobile applications?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Searching ISCO-08...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30352" y="5084064"/>
            <a:ext cx="2926080" cy="530352"/>
          </a:xfrm>
          <a:prstGeom prst="roundRect">
            <a:avLst>
              <a:gd name="adj" fmla="val 20690"/>
            </a:avLst>
          </a:prstGeom>
          <a:solidFill>
            <a:srgbClr val="F0F4FF"/>
          </a:solidFill>
          <a:ln w="10160">
            <a:solidFill>
              <a:srgbClr val="D0D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5129784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ISCO Code: 2512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 (0.94 confidence)</a:t>
            </a:r>
            <a:endParaRPr lang="en-US" sz="7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match your work?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371600" y="5724144"/>
            <a:ext cx="2651760" cy="530352"/>
          </a:xfrm>
          <a:prstGeom prst="roundRect">
            <a:avLst>
              <a:gd name="adj" fmla="val 20690"/>
            </a:avLst>
          </a:prstGeom>
          <a:solidFill>
            <a:srgbClr val="059669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44752" y="5769864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that's correct! ✓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" y="6455664"/>
            <a:ext cx="3621024" cy="201168"/>
          </a:xfrm>
          <a:prstGeom prst="rect">
            <a:avLst/>
          </a:prstGeom>
          <a:solidFill>
            <a:srgbClr val="E8F0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" y="6455664"/>
            <a:ext cx="1629461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64556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— Employment  |  45% complete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434840" y="1115568"/>
            <a:ext cx="754380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1115568"/>
            <a:ext cx="73152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9"/>
          <p:cNvSpPr/>
          <p:nvPr/>
        </p:nvSpPr>
        <p:spPr>
          <a:xfrm>
            <a:off x="4160520" y="138988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1688" y="1490472"/>
            <a:ext cx="73152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11521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Step 1 — Authentication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53712" y="140817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Pass / OTP verifies identity before survey starts. Respondent confirmed, session secured.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34840" y="2011680"/>
            <a:ext cx="754380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34840" y="2011680"/>
            <a:ext cx="73152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5"/>
          <p:cNvSpPr/>
          <p:nvPr/>
        </p:nvSpPr>
        <p:spPr>
          <a:xfrm>
            <a:off x="4160520" y="22860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61688" y="2386584"/>
            <a:ext cx="7315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53712" y="20482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Step 2 — Language Selection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53712" y="230428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(Language Processor) activates. System switches to chosen language instantly.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434840" y="2907792"/>
            <a:ext cx="754380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34840" y="2907792"/>
            <a:ext cx="73152" cy="74980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3" name="Shape 41"/>
          <p:cNvSpPr/>
          <p:nvPr/>
        </p:nvSpPr>
        <p:spPr>
          <a:xfrm>
            <a:off x="4160520" y="3182112"/>
            <a:ext cx="201168" cy="20116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61688" y="3282696"/>
            <a:ext cx="73152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53712" y="2944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Step 3 — Pre-filled Data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53712" y="32004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checks Person Register. Already-known info is confirmed, not re-asked. Saves 40–50% of questions.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434840" y="3803904"/>
            <a:ext cx="754380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34840" y="3803904"/>
            <a:ext cx="73152" cy="7498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9" name="Shape 47"/>
          <p:cNvSpPr/>
          <p:nvPr/>
        </p:nvSpPr>
        <p:spPr>
          <a:xfrm>
            <a:off x="4160520" y="4078224"/>
            <a:ext cx="201168" cy="20116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61688" y="4178808"/>
            <a:ext cx="73152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53712" y="3840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Step 4 — RAG Coding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53712" y="40965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runs 4-stage ISCO-08 search. Converts 'mobile apps' into ISCO 2512 with 0.94 confidence.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434840" y="4700016"/>
            <a:ext cx="7543800" cy="749808"/>
          </a:xfrm>
          <a:prstGeom prst="rect">
            <a:avLst/>
          </a:prstGeom>
          <a:solidFill>
            <a:srgbClr val="FFFFFF"/>
          </a:solidFill>
          <a:ln w="2286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434840" y="4700016"/>
            <a:ext cx="73152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5" name="Shape 53"/>
          <p:cNvSpPr/>
          <p:nvPr/>
        </p:nvSpPr>
        <p:spPr>
          <a:xfrm>
            <a:off x="4160520" y="497433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61688" y="5074920"/>
            <a:ext cx="73152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53712" y="4736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Step 5 — Confirmation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53712" y="49926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sees plain-English result. One tap confirms. Code saved to database automatically.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 |  Multilingual Conversational AI  |  IIIT Kottayam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7315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ISCO-08 Results Are Displayed — The Coding Card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56032" y="5212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output | Respondent confirmation screen | Supervisor review panel | Three confidence scenarios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078992"/>
            <a:ext cx="3749040" cy="5349240"/>
          </a:xfrm>
          <a:prstGeom prst="rect">
            <a:avLst/>
          </a:prstGeom>
          <a:solidFill>
            <a:srgbClr val="FFFFFF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078992"/>
            <a:ext cx="374904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" y="109728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— HIGH CONFIDENCE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572768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0.94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35024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AUTO-ACCEPTED 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938528"/>
            <a:ext cx="3566160" cy="1325880"/>
          </a:xfrm>
          <a:prstGeom prst="rect">
            <a:avLst/>
          </a:prstGeom>
          <a:solidFill>
            <a:srgbClr val="F0FFF8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993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— 2512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Applications Developer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7432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2 → Sub 25 → Minor 251 → Unit 2512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3383280" cy="0"/>
          </a:xfrm>
          <a:prstGeom prst="line">
            <a:avLst/>
          </a:prstGeom>
          <a:noFill/>
          <a:ln w="12700">
            <a:solidFill>
              <a:srgbClr val="D0E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723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Breakdown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3328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(Major)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993392" y="3364992"/>
            <a:ext cx="1371600" cy="146304"/>
          </a:xfrm>
          <a:prstGeom prst="rect">
            <a:avLst/>
          </a:prstGeom>
          <a:solidFill>
            <a:srgbClr val="E0F0E8"/>
          </a:solidFill>
          <a:ln w="6350">
            <a:solidFill>
              <a:srgbClr val="C0E0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93392" y="3364992"/>
            <a:ext cx="1330452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3284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0040" y="3657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(Sub-major)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993392" y="3694176"/>
            <a:ext cx="1371600" cy="146304"/>
          </a:xfrm>
          <a:prstGeom prst="rect">
            <a:avLst/>
          </a:prstGeom>
          <a:solidFill>
            <a:srgbClr val="E0F0E8"/>
          </a:solidFill>
          <a:ln w="6350">
            <a:solidFill>
              <a:srgbClr val="C0E0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93392" y="3694176"/>
            <a:ext cx="1303020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6576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0040" y="3986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(Minor)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993392" y="4023360"/>
            <a:ext cx="1371600" cy="146304"/>
          </a:xfrm>
          <a:prstGeom prst="rect">
            <a:avLst/>
          </a:prstGeom>
          <a:solidFill>
            <a:srgbClr val="E0F0E8"/>
          </a:solidFill>
          <a:ln w="6350">
            <a:solidFill>
              <a:srgbClr val="C0E0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93392" y="4023360"/>
            <a:ext cx="1275588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39867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" y="4315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(Unit)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93392" y="4352544"/>
            <a:ext cx="1371600" cy="146304"/>
          </a:xfrm>
          <a:prstGeom prst="rect">
            <a:avLst/>
          </a:prstGeom>
          <a:solidFill>
            <a:srgbClr val="E0F0E8"/>
          </a:solidFill>
          <a:ln w="6350">
            <a:solidFill>
              <a:srgbClr val="C0E0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93392" y="4352544"/>
            <a:ext cx="1248156" cy="1463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4315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6032" y="4736592"/>
            <a:ext cx="3566160" cy="640080"/>
          </a:xfrm>
          <a:prstGeom prst="rect">
            <a:avLst/>
          </a:prstGeom>
          <a:solidFill>
            <a:srgbClr val="E8F8E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7731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Code saved automatically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Respondent sees plain confirmation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0" y="1078992"/>
            <a:ext cx="3749040" cy="5349240"/>
          </a:xfrm>
          <a:prstGeom prst="rect">
            <a:avLst/>
          </a:prstGeom>
          <a:solidFill>
            <a:srgbClr val="FFFFFF"/>
          </a:solidFill>
          <a:ln w="317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06240" y="1078992"/>
            <a:ext cx="374904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7"/>
          <p:cNvSpPr/>
          <p:nvPr/>
        </p:nvSpPr>
        <p:spPr>
          <a:xfrm>
            <a:off x="4279392" y="1097280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— NEEDS CONFIRMATION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97680" y="1572768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0.76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76672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RESPONDENT TO CONFIRM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97680" y="1938528"/>
            <a:ext cx="3566160" cy="1097280"/>
          </a:xfrm>
          <a:prstGeom prst="rect">
            <a:avLst/>
          </a:prstGeom>
          <a:solidFill>
            <a:srgbClr val="FFFBEC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1975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— 7126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4389120" y="24140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Plumbers &amp; Pipe Fitters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89120" y="26517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7 → Sub 71 → Minor 712 → Unit 7126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297680" y="312724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shows 3 options to respondent: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297680" y="3419856"/>
            <a:ext cx="3566160" cy="502920"/>
          </a:xfrm>
          <a:prstGeom prst="rect">
            <a:avLst/>
          </a:prstGeom>
          <a:solidFill>
            <a:srgbClr val="FFFBEC"/>
          </a:solidFill>
          <a:ln w="2286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52544" y="3575304"/>
            <a:ext cx="201168" cy="201168"/>
          </a:xfrm>
          <a:prstGeom prst="ellipse">
            <a:avLst/>
          </a:prstGeom>
          <a:solidFill>
            <a:srgbClr val="D9770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08576" y="3511296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08576" y="35112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7126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687568" y="34564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Plumbers &amp; Pipe Fitters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87568" y="36758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0.76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297680" y="3986784"/>
            <a:ext cx="35661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52544" y="4142232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08576" y="4078224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08576" y="40782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7127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687568" y="4023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Cond. &amp; Refrigeration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687568" y="4242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0.61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297680" y="4553712"/>
            <a:ext cx="356616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52544" y="4709160"/>
            <a:ext cx="201168" cy="2011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08576" y="4645152"/>
            <a:ext cx="1005840" cy="237744"/>
          </a:xfrm>
          <a:prstGeom prst="roundRect">
            <a:avLst>
              <a:gd name="adj" fmla="val 46154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08576" y="46451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9510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687568" y="4590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Labourers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87568" y="48097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0.48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297680" y="5138928"/>
            <a:ext cx="356616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0" y="51480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CONFIRM YOUR OCCUPATION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247888" y="1078992"/>
            <a:ext cx="3730752" cy="5349240"/>
          </a:xfrm>
          <a:prstGeom prst="rect">
            <a:avLst/>
          </a:prstGeom>
          <a:solidFill>
            <a:srgbClr val="FFFFFF"/>
          </a:solidFill>
          <a:ln w="317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247888" y="1078992"/>
            <a:ext cx="3730752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0" name="Text 68"/>
          <p:cNvSpPr/>
          <p:nvPr/>
        </p:nvSpPr>
        <p:spPr>
          <a:xfrm>
            <a:off x="8321040" y="1097280"/>
            <a:ext cx="3584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— LOW CONFIDENCE → HITL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339328" y="1572768"/>
            <a:ext cx="1005840" cy="27432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39328" y="15727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conf: 0.52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9418320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HUMAN REVIEWER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339328" y="1938528"/>
            <a:ext cx="3547872" cy="777240"/>
          </a:xfrm>
          <a:prstGeom prst="rect">
            <a:avLst/>
          </a:prstGeom>
          <a:solidFill>
            <a:srgbClr val="FFF5F5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12480" y="1975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8887968" y="199339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too low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auto-code this occupation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339328" y="27432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sees: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339328" y="2999232"/>
            <a:ext cx="3547872" cy="658368"/>
          </a:xfrm>
          <a:prstGeom prst="rect">
            <a:avLst/>
          </a:prstGeom>
          <a:solidFill>
            <a:srgbClr val="F8F8FF"/>
          </a:solidFill>
          <a:ln w="12700">
            <a:solidFill>
              <a:srgbClr val="D0D0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412480" y="30358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response.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specialist will review and confirm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occupation code within 24 hours.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39328" y="374904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dashboard shows: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39328" y="4023360"/>
            <a:ext cx="3547872" cy="365760"/>
          </a:xfrm>
          <a:prstGeom prst="rect">
            <a:avLst/>
          </a:prstGeom>
          <a:solidFill>
            <a:srgbClr val="F5F5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94192" y="4078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ID: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9619488" y="4078224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UAE-2024-7842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339328" y="4443984"/>
            <a:ext cx="3547872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94192" y="44988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response: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619488" y="4498848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manage people and reports"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8339328" y="4864608"/>
            <a:ext cx="3547872" cy="365760"/>
          </a:xfrm>
          <a:prstGeom prst="rect">
            <a:avLst/>
          </a:prstGeom>
          <a:solidFill>
            <a:srgbClr val="F5F5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94192" y="49194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best guess: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619488" y="491947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1219 (conf 0.52)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8339328" y="5285232"/>
            <a:ext cx="3547872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94192" y="53400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reasoning: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9619488" y="5340096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"Manager role, unclear sector"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8339328" y="5705856"/>
            <a:ext cx="3547872" cy="365760"/>
          </a:xfrm>
          <a:prstGeom prst="rect">
            <a:avLst/>
          </a:prstGeom>
          <a:solidFill>
            <a:srgbClr val="F5F5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394192" y="57607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9619488" y="576072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Review &lt; 3 min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8339328" y="6144768"/>
            <a:ext cx="3547872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39328" y="615391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CODE  →  APPROVE  →  REJECT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9" name="Text 97"/>
          <p:cNvSpPr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 |  Multilingual Conversational AI  |  IIIT Kottayam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7315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Agents — Who Does What at Every Step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56032" y="5212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one job. Together they handle the full survey from login to database.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080760" y="1051560"/>
            <a:ext cx="0" cy="56692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164592" y="111556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115568"/>
            <a:ext cx="73152" cy="9692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0" y="137160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117043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Authentication &amp;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Manager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14996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identity, delivers privacy notice, gets consent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59352" y="1463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1463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GPT-4o-mini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959352" y="1737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Survey start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291072" y="111556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932920" y="1115568"/>
            <a:ext cx="73152" cy="9692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0" y="1371600"/>
            <a:ext cx="420624" cy="42062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55664" y="117043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Survey Conversation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55664" y="14996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question flow, skip logic, state machine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37376" y="1463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14630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437376" y="1737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Throughout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164592" y="221284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4592" y="2212848"/>
            <a:ext cx="73152" cy="9692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0" y="2468880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92608" y="226771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— Multilingual Language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92608" y="25968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language, normalises dialect, extracts job terms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59352" y="256032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9352" y="25603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GPT-4o-mini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959352" y="2834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Every response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291072" y="221284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1932920" y="2212848"/>
            <a:ext cx="73152" cy="9692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Shape 35"/>
          <p:cNvSpPr/>
          <p:nvPr/>
        </p:nvSpPr>
        <p:spPr>
          <a:xfrm>
            <a:off x="5669280" y="2468880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55664" y="226771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— Person Register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55664" y="25968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known data, verify-then-ask, reduces questions 40–50%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37376" y="256032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37376" y="25603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Sonnet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437376" y="2834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Section B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164592" y="331012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64592" y="3310128"/>
            <a:ext cx="73152" cy="9692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6" name="Shape 44"/>
          <p:cNvSpPr/>
          <p:nvPr/>
        </p:nvSpPr>
        <p:spPr>
          <a:xfrm>
            <a:off x="5669280" y="3566160"/>
            <a:ext cx="420624" cy="42062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92608" y="336499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— Multi-Classification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Expert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92608" y="369417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ISCO-08, ISIC, ISCED coding with confidence score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959352" y="365760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59352" y="3657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Sonnet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959352" y="3931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Q.C5, B6, C6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6291072" y="331012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1932920" y="3310128"/>
            <a:ext cx="73152" cy="969264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55" name="Shape 53"/>
          <p:cNvSpPr/>
          <p:nvPr/>
        </p:nvSpPr>
        <p:spPr>
          <a:xfrm>
            <a:off x="5669280" y="3566160"/>
            <a:ext cx="420624" cy="420624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55664" y="336499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— Emotional Intelligence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55664" y="369417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stress/confusion, adjusts tone, prevents dropout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437376" y="365760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37376" y="3657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6437376" y="3931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Throughout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164592" y="440740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64592" y="4407408"/>
            <a:ext cx="73152" cy="9692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4" name="Shape 62"/>
          <p:cNvSpPr/>
          <p:nvPr/>
        </p:nvSpPr>
        <p:spPr>
          <a:xfrm>
            <a:off x="5669280" y="4663440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292608" y="446227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— Data Validation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92608" y="47914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answer consistency, flags contradictions instantly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959352" y="475488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59352" y="47548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Sonnet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959352" y="5029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After each section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6291072" y="440740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1932920" y="4407408"/>
            <a:ext cx="73152" cy="9692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3" name="Shape 71"/>
          <p:cNvSpPr/>
          <p:nvPr/>
        </p:nvSpPr>
        <p:spPr>
          <a:xfrm>
            <a:off x="5669280" y="4663440"/>
            <a:ext cx="420624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6928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455664" y="446227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8 — Context Memory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6455664" y="479145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session history, enables follow-up questions, 7yr log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437376" y="475488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37376" y="47548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GPT-4o-mini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6437376" y="5029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Throughout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164592" y="550468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64592" y="5504688"/>
            <a:ext cx="73152" cy="9692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2" name="Shape 80"/>
          <p:cNvSpPr/>
          <p:nvPr/>
        </p:nvSpPr>
        <p:spPr>
          <a:xfrm>
            <a:off x="5669280" y="576072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9280" y="5760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292608" y="555955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9 — HITL Quality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292608" y="58887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escalation, routes to human reviewer, active learning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959352" y="585216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959352" y="58521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3959352" y="6126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Low confidence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6291072" y="5504688"/>
            <a:ext cx="5715000" cy="969264"/>
          </a:xfrm>
          <a:prstGeom prst="rect">
            <a:avLst/>
          </a:prstGeom>
          <a:solidFill>
            <a:srgbClr val="142040"/>
          </a:solidFill>
          <a:ln w="2286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11932920" y="5504688"/>
            <a:ext cx="73152" cy="9692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1" name="Shape 89"/>
          <p:cNvSpPr/>
          <p:nvPr/>
        </p:nvSpPr>
        <p:spPr>
          <a:xfrm>
            <a:off x="5669280" y="5760720"/>
            <a:ext cx="420624" cy="42062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669280" y="5760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6455664" y="555955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 — Audit &amp; Compliance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6455664" y="58887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trail, 10-year retention, regulatory proof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6437376" y="585216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37376" y="58521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GPT-4o-mini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6437376" y="61264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Every action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9" name="Text 97"/>
          <p:cNvSpPr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 |  Multilingual Conversational AI  |  IIIT Kottayam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7315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 — Exactly How Human Handling Works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56032" y="5212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is unsure, it doesn't guess — it calls a human expert. Here is the full flow.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182880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4944" y="115214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SURVEY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162763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answers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question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31720" y="1097280"/>
            <a:ext cx="1828800" cy="10058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86584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43784" y="115214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RAG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04872" y="162763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runs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retrieval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80560" y="1097280"/>
            <a:ext cx="182880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35424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92624" y="115214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CONFIDENCE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53712" y="162763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conf ≥ 0.70?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629400" y="1097280"/>
            <a:ext cx="182880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84264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141464" y="115214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4a. AUTO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02552" y="162763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saved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database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629400" y="2743200"/>
            <a:ext cx="1828800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84264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141464" y="279806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4b. HITL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02552" y="327355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sent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778240" y="2743200"/>
            <a:ext cx="18288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833104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290304" y="279806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REVIEWER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851392" y="3273552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Sees: raw text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guess + reason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927080" y="2743200"/>
            <a:ext cx="105156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981944" y="2834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439144" y="2798064"/>
            <a:ext cx="466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CODE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00232" y="3273552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011680" y="1600200"/>
            <a:ext cx="29260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49424" y="150876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60520" y="1600200"/>
            <a:ext cx="29260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98264" y="150876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09360" y="1600200"/>
            <a:ext cx="29260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47104" y="150876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73952" y="14447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≥0.70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394960" y="2103120"/>
            <a:ext cx="0" cy="621792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4960" y="2724912"/>
            <a:ext cx="120700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264261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▶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0" y="232257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&lt; 0.70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607040" y="3246120"/>
            <a:ext cx="292608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44784" y="3163824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▶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82880" y="2377440"/>
            <a:ext cx="62636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82880" y="2377440"/>
            <a:ext cx="626364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239572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SUPERVISOR REVIEW DASHBOARD  —  Case #2847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56032" y="2816352"/>
            <a:ext cx="6126480" cy="402336"/>
          </a:xfrm>
          <a:prstGeom prst="rect">
            <a:avLst/>
          </a:prstGeom>
          <a:solidFill>
            <a:srgbClr val="F8F6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" y="2834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371600" y="28346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UAE-2024-7842  |  Male, 32, Dubai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56032" y="3273552"/>
            <a:ext cx="61264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" y="3291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answer: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371600" y="32918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manage a team and write reports for the ministry"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6032" y="3730752"/>
            <a:ext cx="6126480" cy="402336"/>
          </a:xfrm>
          <a:prstGeom prst="rect">
            <a:avLst/>
          </a:prstGeom>
          <a:solidFill>
            <a:srgbClr val="F8F6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" y="3749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best guess: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371600" y="3749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1219 — Other Administrative Managers (conf: 0.52)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6032" y="4187952"/>
            <a:ext cx="612648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" y="4206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reasoning: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371600" y="42062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"Management role confirmed. Sector unclear — could be public admin (ISCO 1116) or corporate (ISCO 1219)"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6032" y="4645152"/>
            <a:ext cx="6126480" cy="402336"/>
          </a:xfrm>
          <a:prstGeom prst="rect">
            <a:avLst/>
          </a:prstGeom>
          <a:solidFill>
            <a:srgbClr val="F8F6FF"/>
          </a:solidFill>
          <a:ln w="8890">
            <a:solidFill>
              <a:srgbClr val="E0D8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" y="46634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reason: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371600" y="46634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0.52 &lt; threshold 0.70  |  Priority: HIGH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56032" y="5157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action: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664208" y="513892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664208" y="5138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 1219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035808" y="513892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35808" y="5138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CORRECT CODE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407408" y="513892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07408" y="5138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RE-PROBE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596128" y="513892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96128" y="5138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REJECT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56032" y="5532120"/>
            <a:ext cx="6126480" cy="804672"/>
          </a:xfrm>
          <a:prstGeom prst="rect">
            <a:avLst/>
          </a:prstGeom>
          <a:solidFill>
            <a:srgbClr val="F0EC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" y="55595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Active Learning Loop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347472" y="57972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reviewer correction is fed back to Agent 5 as a training signal. The more cases reviewed, the better the RAG model gets — escalation rate drops from ~25% initially to the target 10–15% after sufficient learning cycles.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656832" y="3886200"/>
            <a:ext cx="5303520" cy="2606040"/>
          </a:xfrm>
          <a:prstGeom prst="rect">
            <a:avLst/>
          </a:prstGeom>
          <a:solidFill>
            <a:srgbClr val="FFFFFF"/>
          </a:solidFill>
          <a:ln w="2286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656832" y="3886200"/>
            <a:ext cx="530352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0" name="Text 78"/>
          <p:cNvSpPr/>
          <p:nvPr/>
        </p:nvSpPr>
        <p:spPr>
          <a:xfrm>
            <a:off x="6729984" y="3904488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Performance Targets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729984" y="4297680"/>
            <a:ext cx="5138928" cy="457200"/>
          </a:xfrm>
          <a:prstGeom prst="rect">
            <a:avLst/>
          </a:prstGeom>
          <a:solidFill>
            <a:srgbClr val="FFFBF5"/>
          </a:solidFill>
          <a:ln w="8890">
            <a:solidFill>
              <a:srgbClr val="F0E0D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84848" y="4334256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784848" y="4334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54112" y="4334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754112" y="4553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in 7–10 cases needs human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729984" y="4809744"/>
            <a:ext cx="513892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0E0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84848" y="4846320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84848" y="4846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754112" y="4846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Time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754112" y="50657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sees all context pre-loaded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729984" y="5321808"/>
            <a:ext cx="5138928" cy="457200"/>
          </a:xfrm>
          <a:prstGeom prst="rect">
            <a:avLst/>
          </a:prstGeom>
          <a:solidFill>
            <a:srgbClr val="FFFBF5"/>
          </a:solidFill>
          <a:ln w="8890">
            <a:solidFill>
              <a:srgbClr val="F0E0D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784848" y="5358384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84848" y="53583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754112" y="53583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AI-Human Agreement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7754112" y="5577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guess matches reviewer ≥90% of time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729984" y="5833872"/>
            <a:ext cx="513892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0E0D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784848" y="5870448"/>
            <a:ext cx="914400" cy="237744"/>
          </a:xfrm>
          <a:prstGeom prst="roundRect">
            <a:avLst>
              <a:gd name="adj" fmla="val 4615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784848" y="5870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+5–8%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754112" y="5870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Gain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754112" y="608990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improves each feedback cycle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2" name="Text 100"/>
          <p:cNvSpPr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 |  Multilingual Conversational AI  |  IIIT Kottayam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615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" y="7315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 — How We Prove the System Works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56032" y="52120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protocol | 200-person pilot study | 5 research questions | 3-system comparison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078992"/>
            <a:ext cx="28346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078992"/>
            <a:ext cx="2834640" cy="38404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Shape 7"/>
          <p:cNvSpPr/>
          <p:nvPr/>
        </p:nvSpPr>
        <p:spPr>
          <a:xfrm>
            <a:off x="1261872" y="841248"/>
            <a:ext cx="640080" cy="6400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7744" y="109728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554480"/>
            <a:ext cx="2651760" cy="484632"/>
          </a:xfrm>
          <a:prstGeom prst="rect">
            <a:avLst/>
          </a:prstGeom>
          <a:solidFill>
            <a:srgbClr val="F8F9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" y="1664208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7276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each agent alone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6032" y="2103120"/>
            <a:ext cx="265176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2212848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2140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BM25 vs Flat Vector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651760"/>
            <a:ext cx="2651760" cy="484632"/>
          </a:xfrm>
          <a:prstGeom prst="rect">
            <a:avLst/>
          </a:prstGeom>
          <a:solidFill>
            <a:srgbClr val="F8F9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2761488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7004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Gold-standard ISCO test 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3200400"/>
            <a:ext cx="265176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" y="3310128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1868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≥85% top-1 accuracy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1752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08960" y="1078992"/>
            <a:ext cx="28346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1078992"/>
            <a:ext cx="283464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Shape 25"/>
          <p:cNvSpPr/>
          <p:nvPr/>
        </p:nvSpPr>
        <p:spPr>
          <a:xfrm>
            <a:off x="4206240" y="84124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182112" y="109728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1554480"/>
            <a:ext cx="2651760" cy="484632"/>
          </a:xfrm>
          <a:prstGeom prst="rect">
            <a:avLst/>
          </a:prstGeom>
          <a:solidFill>
            <a:srgbClr val="F8F9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73552" y="166420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57276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agents together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0" y="2103120"/>
            <a:ext cx="265176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73552" y="221284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3008" y="212140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respondents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2651760"/>
            <a:ext cx="2651760" cy="484632"/>
          </a:xfrm>
          <a:prstGeom prst="rect">
            <a:avLst/>
          </a:prstGeom>
          <a:solidFill>
            <a:srgbClr val="F8F9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3552" y="276148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267004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edge cases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3200400"/>
            <a:ext cx="265176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73552" y="33101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321868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&lt;2s per response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61888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053328" y="1078992"/>
            <a:ext cx="28346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53328" y="1078992"/>
            <a:ext cx="283464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5" name="Shape 43"/>
          <p:cNvSpPr/>
          <p:nvPr/>
        </p:nvSpPr>
        <p:spPr>
          <a:xfrm>
            <a:off x="7150608" y="841248"/>
            <a:ext cx="640080" cy="6400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0608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126480" y="109728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 people)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44768" y="1554480"/>
            <a:ext cx="2651760" cy="484632"/>
          </a:xfrm>
          <a:prstGeom prst="rect">
            <a:avLst/>
          </a:prstGeom>
          <a:solidFill>
            <a:srgbClr val="F8F9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1664208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37376" y="157276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AI system group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44768" y="2103120"/>
            <a:ext cx="265176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2212848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37376" y="212140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traditional method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44768" y="2651760"/>
            <a:ext cx="2651760" cy="484632"/>
          </a:xfrm>
          <a:prstGeom prst="rect">
            <a:avLst/>
          </a:prstGeom>
          <a:solidFill>
            <a:srgbClr val="F8F9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2761488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37376" y="267004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5 metrics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144768" y="3200400"/>
            <a:ext cx="265176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17920" y="3310128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37376" y="321868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ISCO review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906256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997696" y="1078992"/>
            <a:ext cx="28346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997696" y="1078992"/>
            <a:ext cx="283464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3" name="Shape 61"/>
          <p:cNvSpPr/>
          <p:nvPr/>
        </p:nvSpPr>
        <p:spPr>
          <a:xfrm>
            <a:off x="10094976" y="84124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94976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9070848" y="1097280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089136" y="1554480"/>
            <a:ext cx="2651760" cy="484632"/>
          </a:xfrm>
          <a:prstGeom prst="rect">
            <a:avLst/>
          </a:prstGeom>
          <a:solidFill>
            <a:srgbClr val="F8F9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62288" y="166420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81744" y="157276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Kappa κ ≥ 0.80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089136" y="2103120"/>
            <a:ext cx="265176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62288" y="221284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81744" y="212140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 treatment vs control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089136" y="2651760"/>
            <a:ext cx="2651760" cy="484632"/>
          </a:xfrm>
          <a:prstGeom prst="rect">
            <a:avLst/>
          </a:prstGeom>
          <a:solidFill>
            <a:srgbClr val="F8F9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62288" y="276148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81744" y="267004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Cost-benefit analysis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9089136" y="3200400"/>
            <a:ext cx="2651760" cy="484632"/>
          </a:xfrm>
          <a:prstGeom prst="rect">
            <a:avLst/>
          </a:prstGeom>
          <a:solidFill>
            <a:srgbClr val="FFFFFF"/>
          </a:solidFill>
          <a:ln w="8890">
            <a:solidFill>
              <a:srgbClr val="E0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162288" y="3310128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81744" y="3218688"/>
            <a:ext cx="23042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 breakdown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64592" y="4251960"/>
            <a:ext cx="1179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 — What We Are Measuring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64592" y="4590288"/>
            <a:ext cx="2267712" cy="1965960"/>
          </a:xfrm>
          <a:prstGeom prst="rect">
            <a:avLst/>
          </a:prstGeom>
          <a:solidFill>
            <a:srgbClr val="FFFFFF"/>
          </a:solidFill>
          <a:ln w="2794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64592" y="4590288"/>
            <a:ext cx="2267712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1" name="Shape 79"/>
          <p:cNvSpPr/>
          <p:nvPr/>
        </p:nvSpPr>
        <p:spPr>
          <a:xfrm>
            <a:off x="237744" y="4700016"/>
            <a:ext cx="475488" cy="237744"/>
          </a:xfrm>
          <a:prstGeom prst="roundRect">
            <a:avLst>
              <a:gd name="adj" fmla="val 46154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37744" y="470001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58952" y="47000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74320" y="502920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Nonresponse ↓ 20-30%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↓ 40-50%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274320" y="5650992"/>
            <a:ext cx="2048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56032" y="5687568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RCT Pilot Study + Expert Coding Review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542032" y="4590288"/>
            <a:ext cx="2267712" cy="1965960"/>
          </a:xfrm>
          <a:prstGeom prst="rect">
            <a:avLst/>
          </a:prstGeom>
          <a:solidFill>
            <a:srgbClr val="FFFFFF"/>
          </a:solidFill>
          <a:ln w="279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2542032" y="4590288"/>
            <a:ext cx="226771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9" name="Shape 87"/>
          <p:cNvSpPr/>
          <p:nvPr/>
        </p:nvSpPr>
        <p:spPr>
          <a:xfrm>
            <a:off x="2615184" y="4700016"/>
            <a:ext cx="475488" cy="237744"/>
          </a:xfrm>
          <a:prstGeom prst="roundRect">
            <a:avLst>
              <a:gd name="adj" fmla="val 4615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615184" y="470001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136392" y="47000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 Accuracy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2651760" y="502920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≥85%  Top-3 ≥95%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 ≥ 0.80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651760" y="5650992"/>
            <a:ext cx="2048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33472" y="5687568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RCT Pilot Study + Expert Coding Review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4919472" y="4590288"/>
            <a:ext cx="2267712" cy="1965960"/>
          </a:xfrm>
          <a:prstGeom prst="rect">
            <a:avLst/>
          </a:prstGeom>
          <a:solidFill>
            <a:srgbClr val="FFFFFF"/>
          </a:solidFill>
          <a:ln w="2794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4919472" y="4590288"/>
            <a:ext cx="2267712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7" name="Shape 95"/>
          <p:cNvSpPr/>
          <p:nvPr/>
        </p:nvSpPr>
        <p:spPr>
          <a:xfrm>
            <a:off x="4992624" y="4700016"/>
            <a:ext cx="475488" cy="237744"/>
          </a:xfrm>
          <a:prstGeom prst="roundRect">
            <a:avLst>
              <a:gd name="adj" fmla="val 46154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92624" y="470001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5513832" y="47000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Quality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5029200" y="502920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 F1 ≥92%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 ≥90%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029200" y="5650992"/>
            <a:ext cx="2048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010912" y="5687568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RCT Pilot Study + Expert Coding Review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7296912" y="4590288"/>
            <a:ext cx="2267712" cy="1965960"/>
          </a:xfrm>
          <a:prstGeom prst="rect">
            <a:avLst/>
          </a:prstGeom>
          <a:solidFill>
            <a:srgbClr val="FFFFFF"/>
          </a:solidFill>
          <a:ln w="2794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7296912" y="4590288"/>
            <a:ext cx="2267712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370064" y="4700016"/>
            <a:ext cx="475488" cy="237744"/>
          </a:xfrm>
          <a:prstGeom prst="roundRect">
            <a:avLst>
              <a:gd name="adj" fmla="val 46154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370064" y="470001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7891272" y="47000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Efficiency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7406640" y="502920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10–15%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time &lt; 3 min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7406640" y="5650992"/>
            <a:ext cx="2048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388352" y="5687568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RCT Pilot Study + Expert Coding Review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9674352" y="4590288"/>
            <a:ext cx="2267712" cy="1965960"/>
          </a:xfrm>
          <a:prstGeom prst="rect">
            <a:avLst/>
          </a:prstGeom>
          <a:solidFill>
            <a:srgbClr val="FFFFFF"/>
          </a:solidFill>
          <a:ln w="279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9674352" y="4590288"/>
            <a:ext cx="226771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747504" y="4700016"/>
            <a:ext cx="475488" cy="237744"/>
          </a:xfrm>
          <a:prstGeom prst="roundRect">
            <a:avLst>
              <a:gd name="adj" fmla="val 4615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747504" y="470001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RQ5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0268712" y="47000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9784080" y="5029200"/>
            <a:ext cx="2048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 ≥90%</a:t>
            </a:r>
            <a:endParaRPr lang="en-US" sz="9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≤15%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9784080" y="5650992"/>
            <a:ext cx="2048256" cy="0"/>
          </a:xfrm>
          <a:prstGeom prst="line">
            <a:avLst/>
          </a:prstGeom>
          <a:noFill/>
          <a:ln w="12700">
            <a:solidFill>
              <a:srgbClr val="E0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765792" y="5687568"/>
            <a:ext cx="2084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by: RCT Pilot Study + Expert Coding Review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1942064" y="4590288"/>
            <a:ext cx="18288" cy="19659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1" name="Text 119"/>
          <p:cNvSpPr/>
          <p:nvPr/>
        </p:nvSpPr>
        <p:spPr>
          <a:xfrm>
            <a:off x="274320" y="6693408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Labour Force Survey  |  Multilingual Conversational AI  |  IIIT Kottayam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5486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Things That Make This System Different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1261872"/>
            <a:ext cx="941832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5669280" cy="1481328"/>
          </a:xfrm>
          <a:prstGeom prst="rect">
            <a:avLst/>
          </a:prstGeom>
          <a:solidFill>
            <a:srgbClr val="142040"/>
          </a:solidFill>
          <a:ln w="254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91440" cy="1481328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78408" y="1545336"/>
            <a:ext cx="274320" cy="2743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150876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understands meaning, not just 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1856232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says 'I fix water pipes' or 'أنا سبّاك', the system knows this is the same occupation. Traditional keyword search fails here. Semantic RAG succeeds.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669280" cy="1481328"/>
          </a:xfrm>
          <a:prstGeom prst="rect">
            <a:avLst/>
          </a:prstGeom>
          <a:solidFill>
            <a:srgbClr val="142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91440" cy="1481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922008" y="154533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22008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150876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speaks 5+ languages natively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1856232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(MSA + Gulf dialect), English, Urdu, Hindi, Tagalog — all handled by one system. A respondent can switch mid-sentence and the system keeps up.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5669280" cy="1481328"/>
          </a:xfrm>
          <a:prstGeom prst="rect">
            <a:avLst/>
          </a:prstGeom>
          <a:solidFill>
            <a:srgbClr val="142040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63240"/>
            <a:ext cx="91440" cy="14813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78408" y="3191256"/>
            <a:ext cx="274320" cy="2743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15468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when to call a human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3502152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confidence &lt; 0.70, it doesn't guess. It escalates to a human reviewer with a full explanation package. The reviewer corrects it. The system learns. Accuracy improves over time.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3063240"/>
            <a:ext cx="5669280" cy="1481328"/>
          </a:xfrm>
          <a:prstGeom prst="rect">
            <a:avLst/>
          </a:prstGeom>
          <a:solidFill>
            <a:srgbClr val="142040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3063240"/>
            <a:ext cx="91440" cy="14813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428232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922008" y="3191256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22008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315468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pre-fills answers from existing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9480" y="3502152"/>
            <a:ext cx="4553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Person Register, it already knows the respondent's age, nationality, and previous job. It asks only what has changed — reducing questions by 40–50%.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709160"/>
            <a:ext cx="11521440" cy="1481328"/>
          </a:xfrm>
          <a:prstGeom prst="rect">
            <a:avLst/>
          </a:prstGeom>
          <a:solidFill>
            <a:srgbClr val="142040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709160"/>
            <a:ext cx="91440" cy="14813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" y="4818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978408" y="4837176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8408" y="4837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325880" y="4800600"/>
            <a:ext cx="1040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explainable and audited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25880" y="5148072"/>
            <a:ext cx="10405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ISCO code assigned, every escalation triggered, every agent action — all logged with reasoning for 10 years. Statistical offices can audit any decision at any time.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 Thesis  |  IIIT Kottayam 2026  |  Supervisor: Dr. Goutam Mali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2026-03-08T01:19:41Z</dcterms:created>
  <dcterms:modified xsi:type="dcterms:W3CDTF">2026-03-08T01:19:41Z</dcterms:modified>
</cp:coreProperties>
</file>