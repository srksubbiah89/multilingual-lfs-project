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225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Design, Survey Workflows</a:t>
            </a:r>
            <a:endParaRPr lang="en-US" sz="3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Multi-Agent System Architecture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75895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08960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35808" y="3108960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Framework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48656" y="3108960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61504" y="3108960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Specialized 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74352" y="3108960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Languages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Thesis  |  IIIT Kottayam 2026  |  </a:t>
            </a:r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Goutam Mali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3520440" cy="1508760"/>
          </a:xfrm>
          <a:prstGeom prst="rect">
            <a:avLst/>
          </a:prstGeom>
          <a:solidFill>
            <a:srgbClr val="1A2E5A"/>
          </a:solidFill>
          <a:ln w="228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251960"/>
            <a:ext cx="91440" cy="1508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11 Survey Sections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6817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bilingual questions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· ISIC · ISCED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4251960"/>
            <a:ext cx="3520440" cy="1508760"/>
          </a:xfrm>
          <a:prstGeom prst="rect">
            <a:avLst/>
          </a:prstGeom>
          <a:solidFill>
            <a:srgbClr val="1A2E5A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51960"/>
            <a:ext cx="9144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315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6 Workflows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6817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 · HITL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Register · RAG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49640" y="4251960"/>
            <a:ext cx="3520440" cy="1508760"/>
          </a:xfrm>
          <a:prstGeom prst="rect">
            <a:avLst/>
          </a:prstGeom>
          <a:solidFill>
            <a:srgbClr val="1A2E5A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4251960"/>
            <a:ext cx="91440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4315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Thesis Targets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32520" y="46817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ISCO accuracy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HITL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Questionnaire Map — 11 Sections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maps to specific CrewAI agents | ~17–25 min interview duration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170432"/>
            <a:ext cx="184708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91056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Consent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Pass / OTP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94560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94560" y="1170432"/>
            <a:ext cx="1847088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84448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9424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&amp;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49424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9424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pre-fill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40-50% reduction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87952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87952" y="1170432"/>
            <a:ext cx="184708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187952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42816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2816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42816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RAG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81344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1170432"/>
            <a:ext cx="1847088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181344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71232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Conditions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36208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6208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Underemployment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74736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74736" y="1170432"/>
            <a:ext cx="1847088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8174736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564624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Wages, Income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Benefits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bands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168128" y="117043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168128" y="1170432"/>
            <a:ext cx="1847088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10168128" y="1207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558016" y="122529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22992" y="15727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Job Search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222992" y="228600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22992" y="2286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222992" y="2578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3-criteria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1168" y="382219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01168" y="3822192"/>
            <a:ext cx="1847088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201168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591056" y="387705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6032" y="4224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56032" y="493776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56032" y="5230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occupation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coded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194560" y="382219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194560" y="3822192"/>
            <a:ext cx="184708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5" name="Text 63"/>
          <p:cNvSpPr/>
          <p:nvPr/>
        </p:nvSpPr>
        <p:spPr>
          <a:xfrm>
            <a:off x="219456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584448" y="387705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249424" y="4224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Training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Emiratization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249424" y="493776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49424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249424" y="5230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/ Tawteen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87952" y="382219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187952" y="3822192"/>
            <a:ext cx="1847088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4187952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5577840" y="387705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242816" y="4224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Platform Econ.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242816" y="493776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42816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242816" y="5230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81344" y="382219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181344" y="3822192"/>
            <a:ext cx="184708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1" name="Text 79"/>
          <p:cNvSpPr/>
          <p:nvPr/>
        </p:nvSpPr>
        <p:spPr>
          <a:xfrm>
            <a:off x="6181344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571232" y="387705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236208" y="4224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Work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Well-being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236208" y="493776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36208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236208" y="5230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SDG-8 indicators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monitoring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74736" y="3822192"/>
            <a:ext cx="1847088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8174736" y="3822192"/>
            <a:ext cx="1847088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9" name="Text 87"/>
          <p:cNvSpPr/>
          <p:nvPr/>
        </p:nvSpPr>
        <p:spPr>
          <a:xfrm>
            <a:off x="8174736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564624" y="3877056"/>
            <a:ext cx="438912" cy="219456"/>
          </a:xfrm>
          <a:prstGeom prst="rect">
            <a:avLst>
              <a:gd name="adj" fmla="val 25000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229600" y="4224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8229600" y="4937760"/>
            <a:ext cx="1737360" cy="219456"/>
          </a:xfrm>
          <a:prstGeom prst="roundRect">
            <a:avLst>
              <a:gd name="adj" fmla="val 58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29600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229600" y="5230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human pref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trust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01168" y="6400800"/>
            <a:ext cx="11759184" cy="201168"/>
          </a:xfrm>
          <a:prstGeom prst="rect">
            <a:avLst/>
          </a:prstGeom>
          <a:solidFill>
            <a:srgbClr val="E2EAF5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640080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63 questions across 11 sections  |  Bilingual: Arabic + English  |  Auto-coded: ISCO-08, ISIC Rev.4, ISCED 2011  |  HITL threshold: confidence &lt; 0.70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 &amp; B — Authentication, Consent &amp; Household Demographics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(Authentication Manager) + Agent 4 (Person Register) + Agent 2 (Conversation Manager)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078992"/>
            <a:ext cx="5532120" cy="5440680"/>
          </a:xfrm>
          <a:prstGeom prst="rect">
            <a:avLst/>
          </a:prstGeom>
          <a:solidFill>
            <a:srgbClr val="F8F9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55321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 —  Authentication &amp; Informed Consent  (4 Questions)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537667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09344"/>
            <a:ext cx="384048" cy="201168"/>
          </a:xfrm>
          <a:prstGeom prst="roundRect">
            <a:avLst>
              <a:gd name="adj" fmla="val 6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93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9808" y="16002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مرحباً! كيف تريد تأكيد هويتك؟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18105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like to verify your identity?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24688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4825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UAE Pass (OAuth)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Email OTP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SMS OTP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= Request human interviewer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52928" y="2029968"/>
            <a:ext cx="2743200" cy="502920"/>
          </a:xfrm>
          <a:prstGeom prst="rect">
            <a:avLst/>
          </a:prstGeom>
          <a:solidFill>
            <a:srgbClr val="FFF8EC"/>
          </a:solidFill>
          <a:ln w="12700">
            <a:solidFill>
              <a:srgbClr val="FFD8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048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If 4 → Transfer to human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537667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384048" cy="201168"/>
          </a:xfrm>
          <a:prstGeom prst="roundRect">
            <a:avLst>
              <a:gd name="adj" fmla="val 6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432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9808" y="27340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أنت مقيم هنا ويبلغ عمرك 15 سنة أو أكثر؟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29443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reside here &amp; are you aged 15+?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163824"/>
            <a:ext cx="24688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18211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Yes / نعم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No / لا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52928" y="3163824"/>
            <a:ext cx="2743200" cy="502920"/>
          </a:xfrm>
          <a:prstGeom prst="rect">
            <a:avLst/>
          </a:prstGeom>
          <a:solidFill>
            <a:srgbClr val="FFF8EC"/>
          </a:solidFill>
          <a:ln w="12700">
            <a:solidFill>
              <a:srgbClr val="FFD8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If No → End (Ineligible)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537667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77056"/>
            <a:ext cx="384048" cy="201168"/>
          </a:xfrm>
          <a:prstGeom prst="roundRect">
            <a:avLst>
              <a:gd name="adj" fmla="val 6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770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9808" y="38679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توافق على المشاركة في هذا المسح؟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" y="40782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consent to participate in this survey?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297680"/>
            <a:ext cx="24688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31596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Agree / أوافق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Disagree / لا أوافق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More information / المزيد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52928" y="4297680"/>
            <a:ext cx="2743200" cy="502920"/>
          </a:xfrm>
          <a:prstGeom prst="rect">
            <a:avLst/>
          </a:prstGeom>
          <a:solidFill>
            <a:srgbClr val="FFF8EC"/>
          </a:solidFill>
          <a:ln w="12700">
            <a:solidFill>
              <a:srgbClr val="FFD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If 2 → End | If 3 → Privacy briefing then re-ask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974336"/>
            <a:ext cx="537667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5010912"/>
            <a:ext cx="384048" cy="201168"/>
          </a:xfrm>
          <a:prstGeom prst="roundRect">
            <a:avLst>
              <a:gd name="adj" fmla="val 6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50109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9808" y="50017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 لغتك المفضلة للمقابلة؟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" y="52120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preferred interview language?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5431536"/>
            <a:ext cx="24688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544982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1=Arabic MSA  2=Gulf Arabic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3=English  4=Urdu  5=Hindi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6=Tagalog  7=Other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52928" y="5431536"/>
            <a:ext cx="2743200" cy="502920"/>
          </a:xfrm>
          <a:prstGeom prst="rect">
            <a:avLst/>
          </a:prstGeom>
          <a:solidFill>
            <a:srgbClr val="FFF8EC"/>
          </a:solidFill>
          <a:ln w="12700">
            <a:solidFill>
              <a:srgbClr val="FFD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5449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System auto-switches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1078992"/>
            <a:ext cx="5925312" cy="5440680"/>
          </a:xfrm>
          <a:prstGeom prst="rect">
            <a:avLst/>
          </a:prstGeom>
          <a:solidFill>
            <a:srgbClr val="F6FFFE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1078992"/>
            <a:ext cx="5925312" cy="38404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8" name="Text 46"/>
          <p:cNvSpPr/>
          <p:nvPr/>
        </p:nvSpPr>
        <p:spPr>
          <a:xfrm>
            <a:off x="6108192" y="1097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 —  Household Roster &amp; Demographics  (10 Questions)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08192" y="1572768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44768" y="1609344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47104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جنسك؟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47104" y="17739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gender?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163056" y="195681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1=Male / ذكر   2=Female / أنثى   3=Prefer not to say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61120" y="1572768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997696" y="1609344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97696" y="1609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400032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تاريخ ميلادك؟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400032" y="17739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birth? (DD/MM/YYYY)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015984" y="195681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entry | Validate age ≥15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97696" y="2523744"/>
            <a:ext cx="2670048" cy="146304"/>
          </a:xfrm>
          <a:prstGeom prst="rect">
            <a:avLst/>
          </a:prstGeom>
          <a:solidFill>
            <a:srgbClr val="FFF0D0"/>
          </a:solidFill>
          <a:ln w="10160">
            <a:solidFill>
              <a:srgbClr val="FFD0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15984" y="2532888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Age &lt;15 → Skip to next person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108192" y="2633472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44768" y="2670048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44768" y="2670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547104" y="266090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 جنسيتك؟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547104" y="28346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Nationality?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63056" y="30175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1=UAE  2=Arab (non-UAE)  3=Asian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4=Western  5=African  6=Other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961120" y="2633472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997696" y="2670048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97696" y="2670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9400032" y="266090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 الاجتماعية؟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400032" y="28346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status?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015984" y="30175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1=Single  2=Married  3=Divorced  4=Widowed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108192" y="3694176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144768" y="3730752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44768" y="3730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547104" y="37216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مستوى تعليمي؟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547104" y="389534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education level?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163056" y="407822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ISCED 0–8 scale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(Auto-coded to ISCED 2011)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961120" y="3694176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997696" y="3730752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97696" y="3730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400032" y="37216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مجال التخصص الدراسي؟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400032" y="389534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 study?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015984" y="407822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text → ISCED-F 2013 auto-code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997696" y="4645152"/>
            <a:ext cx="2670048" cy="146304"/>
          </a:xfrm>
          <a:prstGeom prst="rect">
            <a:avLst/>
          </a:prstGeom>
          <a:solidFill>
            <a:srgbClr val="FFF0D0"/>
          </a:solidFill>
          <a:ln w="10160">
            <a:solidFill>
              <a:srgbClr val="FFD07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15984" y="4654296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Ask only if B5 ≥ 6 (tertiary)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108192" y="4754880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144768" y="4791456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44768" y="4791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547104" y="47823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أكملت أي تدريب مهني خلال آخر 12 شهراً؟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547104" y="495604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last 12 months?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163056" y="513892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1=Yes → specify field   2=No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8961120" y="4754880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997696" y="4791456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97696" y="4791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400032" y="47823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إمارة الإقامة الحالية؟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400032" y="495604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 of residence?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9015984" y="513892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1=Abu Dhabi  2=Dubai  3=Sharjah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4=Ajman  5=UAQ  6=RAK  7=Fujairah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108192" y="5815584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144768" y="5852160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44768" y="5852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547104" y="58430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منذ متى وأنت مقيم في الإمارات؟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6547104" y="60167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UAE residence?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163056" y="61996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1=Born here  2=&lt;1yr  3=1-4yrs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4=5-9yrs  5=10-19yrs  6=20+yrs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961120" y="5815584"/>
            <a:ext cx="2743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8997696" y="5852160"/>
            <a:ext cx="365760" cy="182880"/>
          </a:xfrm>
          <a:prstGeom prst="roundRect">
            <a:avLst>
              <a:gd name="adj" fmla="val 7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97696" y="5852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9400032" y="58430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 السكن؟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400032" y="60167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situation?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9015984" y="61996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1=Own  2=Renting  3=Employer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4=Government  5=Other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4" name="Text 112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C, D &amp; E — Employment Status, Working Hours &amp; Wages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(Hierarchical RAG) handles ISCO-08 auto-coding at Q.C5 | HITL escalation if confidence &lt; 0.70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078992"/>
            <a:ext cx="3931920" cy="5394960"/>
          </a:xfrm>
          <a:prstGeom prst="rect">
            <a:avLst/>
          </a:prstGeom>
          <a:solidFill>
            <a:srgbClr val="FAFB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3931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—  Employment 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572768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5727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0896" y="177393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الأسبوع الماضي، هل عملت ساعة واحدة على الأقل؟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" y="193852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did you work at least 1 hour for pay/profit?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0896" y="15727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1=Yes → C3  |  2=No → C2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4320" y="2295144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331720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331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0896" y="253288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كان لديك وظيفة لكنك لم تعمل بسبب...؟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" y="269748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job but absent due to leave/layoff/other?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0896" y="233172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= Employed (absent)  |  6 = Not employed → C7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3090672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090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0896" y="32918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 طبيعة عملك الرئيسي؟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0896" y="3456432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main job?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0896" y="30906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1=Paid employee  2=Employer  3=Own-account  4=Family worker  5=Cooperative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74320" y="3813048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3849624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8496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10896" y="405079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أي قطاع تعمل؟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0896" y="421538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 do you work in?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10896" y="384962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1=Federal govt  2=Emirate govt  3=Public enterprise  4=Private  5=Semi-govt  6=NGO  7=Self-employed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4608576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6085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1520" y="4608576"/>
            <a:ext cx="603504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60857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AUTO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10896" y="48097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المسمى الوظيفي الرئيسي لعملك؟ (بالتفصيل)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0896" y="4974336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 title? (describe in detail)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10896" y="4608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text → ISCO-08 Hierarchical RAG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candidates + confidence shown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4320" y="5330952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" y="5367528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5367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10896" y="556869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 المهام الرئيسية في عملك؟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0896" y="573328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tasks and duties?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10896" y="536752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text → Improves ISCO-08 accuracy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297680" y="1078992"/>
            <a:ext cx="3931920" cy="5394960"/>
          </a:xfrm>
          <a:prstGeom prst="rect">
            <a:avLst/>
          </a:prstGeom>
          <a:solidFill>
            <a:srgbClr val="FAFB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297680" y="1078992"/>
            <a:ext cx="39319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4370832" y="109728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 —  Working Hours &amp; Conditions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70832" y="1536192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89120" y="1572768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15727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407408" y="177393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 ساعة عملت فعلياً الأسبوع الماضي؟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407408" y="193852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hours worked last week (main job)?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407408" y="15727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(0–168 hrs)  |  Alert if &gt; 80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370832" y="2295144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9120" y="2331720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2331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07408" y="253288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 ساعة تعمل عادةً في الأسبوع؟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407408" y="269748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weekly hours (main job)?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407408" y="233172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(0–99 hrs)  |  Cross-check with D1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4370832" y="3054096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89120" y="3090672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090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407408" y="32918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لديك وظيفة إضافية أخرى؟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407408" y="3456432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secondary job or business?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407408" y="30906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1=Yes → D4  |  2=No → D5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370832" y="3813048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9120" y="3849624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38496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407408" y="405079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ساعات عمل وظيفتك الإضافية الأسبوع الماضي؟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407408" y="421538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 secondary job(s) last week?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407408" y="384962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 |  Total = D1+D4 [flag if &gt;100]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4370832" y="4572000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89120" y="4608576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46085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407408" y="48097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تريد العمل لساعات أكثر وأنت متاح؟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407408" y="4974336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hours &amp; available for more work?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407408" y="4608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1=Yes (underemployed)  2=No  3=Overemployed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370832" y="5330952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389120" y="5367528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5367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4407408" y="556869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ترتيب العمل؟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407408" y="573328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arrangement?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407408" y="536752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1=Full-time  2=Part-time  3=Seasonal  4=Casual  5=On-call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4370832" y="6089904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89120" y="6126480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61264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407408" y="632764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عقدك دائم أم مؤقت؟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407408" y="649224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type?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407408" y="61264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1=Permanent  2=Fixed &lt;1yr  3=Fixed 1-3yrs  4=Probation  5=No written contract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4370832" y="6848856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89120" y="6885432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68854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407408" y="708660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تعمل من المنزل بصفة رئيسية؟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407408" y="7251192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primarily from home (remote)?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407408" y="688543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1=Always  2=Mostly  3=Partially  4=Never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8394192" y="1078992"/>
            <a:ext cx="3931920" cy="5394960"/>
          </a:xfrm>
          <a:prstGeom prst="rect">
            <a:avLst/>
          </a:prstGeom>
          <a:solidFill>
            <a:srgbClr val="FAFB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8394192" y="1078992"/>
            <a:ext cx="39319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1" name="Text 99"/>
          <p:cNvSpPr/>
          <p:nvPr/>
        </p:nvSpPr>
        <p:spPr>
          <a:xfrm>
            <a:off x="8467344" y="109728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 —  Wages, Income &amp; Benefits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467344" y="1536192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485632" y="1572768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485632" y="15727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8503920" y="177393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صافي أجرك الشهري؟ (درهم إماراتي)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503920" y="1938528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wage (last complete month)? AED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503920" y="15727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or range: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&lt;3K / 3-5K / 5-10K / 10-15K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15-25K / 25-50K / 50K+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8467344" y="2295144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85632" y="2331720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85632" y="2331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503920" y="253288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يشمل راتبك بدلات؟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8503920" y="269748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salary include allowances?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8503920" y="233172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1=Housing  2=Transport  3=Food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4=Schooling  5=None  [Multi-select]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8467344" y="3054096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85632" y="3090672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485632" y="3090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8503920" y="32918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تلقيت أي مكافآت خلال آخر 12 شهراً؟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8503920" y="3456432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Bonuses/incentives in past 12 months?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8503920" y="30906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1=Annual bonus  2=Performance  3=Other  4=No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8467344" y="3813048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485632" y="3849624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485632" y="38496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8503920" y="405079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صاحب عملك يوفر تأميناً صحياً؟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8503920" y="421538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employer provide health insurance?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8503920" y="384962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1=Yes-full  2=Yes-partial  3=No  4=Self-pay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8467344" y="4572000"/>
            <a:ext cx="3785616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E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85632" y="4608576"/>
            <a:ext cx="402336" cy="182880"/>
          </a:xfrm>
          <a:prstGeom prst="roundRect">
            <a:avLst>
              <a:gd name="adj" fmla="val 7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485632" y="46085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8503920" y="48097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أنت مشترك في صندوق التقاعد / ضمان نهاية الخدمة؟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8503920" y="4974336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in pension/end-of-service scheme?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8503920" y="4608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1=GPSSA  2=DIFC/ADGM  3=Employer private  4=No  5=Unsure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F – K — Unemployment, Skills, Digital Work &amp; System Feedback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3-criteria unemployment | Emiratization module | Gig economy | EI monitoring | HITL feedback 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109728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97280"/>
            <a:ext cx="38404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" y="11247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  —  Unemployment &amp; Job Search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" y="144475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149961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14996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searched for work last 4 weeks?  [1=Yes / 2=No → F6]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2024" y="179222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" y="184708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" y="1847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methods used? [multi-select: portals, MOHRE, network, agencies…]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2024" y="213969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" y="219456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" y="2194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start within 2 weeks?  [ILO unemployment criterion 3]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2024" y="248716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" y="254203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2542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4360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searching?  [&lt;1mo / 1-3mo / 3-6mo / 6-12mo / 1yr+]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2024" y="2834640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" y="2889504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" y="28895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" y="2871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work sought?  [Open text → ISCO-08 coded]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2024" y="3182112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" y="323697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" y="32369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436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not looking?  [Student / Homemaker / Retired / Disability / Discouraged…]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2024" y="3529584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" y="358444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35844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9436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worked before?  [→ routes to Section G]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06240" y="109728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06240" y="1097280"/>
            <a:ext cx="384048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4279392" y="11247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  —  Previous Employment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61104" y="144475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9392" y="149961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14996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66344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job title (detail)?  [Open text → ISCO-08 RAG coded]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61104" y="179222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79392" y="184708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1847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66344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of last job?  [Same options as C4]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61104" y="213969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79392" y="219456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9392" y="2194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66344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leaving last job?  [Redundancy / End of contract / Resignation / Closure / Health / Retirement…]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261104" y="248716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79392" y="254203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2542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663440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salary in previous employment?  [AED range bands]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00800" y="109728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0" y="1097280"/>
            <a:ext cx="384048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9" name="Text 57"/>
          <p:cNvSpPr/>
          <p:nvPr/>
        </p:nvSpPr>
        <p:spPr>
          <a:xfrm>
            <a:off x="6473952" y="11247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  —  Skills, Training &amp; Emiratization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55664" y="144475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73952" y="149961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73952" y="14996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5800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work-related skills? (top 3) [Digital / Management / Finance / Engineering / Health / Trades…]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55664" y="179222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184708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73952" y="1847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85800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 match current job?  [Overqualified / Matched / Underqualified]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455664" y="213969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73952" y="219456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2194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5800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last 12 months?  [Employer / Self / Government funded]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455664" y="248716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73952" y="254203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73952" y="25420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858000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Emiratization program?  [NAFIS / Tawteen / Absher] — UAE Nationals only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455664" y="2834640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2889504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73952" y="28895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858000" y="2871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barriers in labour market?  [multi-select: Language / Experience / Location…]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37160" y="393192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37160" y="3931920"/>
            <a:ext cx="384048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2" name="Text 80"/>
          <p:cNvSpPr/>
          <p:nvPr/>
        </p:nvSpPr>
        <p:spPr>
          <a:xfrm>
            <a:off x="210312" y="395935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 —  Digital Work &amp; Platform Economy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92024" y="427939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0312" y="433425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0312" y="43342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94360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digital platforms?  [Primary income / Supplementary / No → I4]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92024" y="462686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0312" y="468172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0312" y="4681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9436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platform(s)?  [Uber/Careem / Talabat / Freelancer / Professional / E-commerce]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92024" y="497433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0312" y="502920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0312" y="5029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94360" y="5010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hours on platforms?  [Numeric entry]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92024" y="532180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0312" y="537667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10312" y="5376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9436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 manage online business?  [Registered / Informal / No]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92024" y="5669280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0312" y="5724144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0312" y="57241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94360" y="5705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remote for company outside UAE?  [Yes → specify country / No]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206240" y="393192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4206240" y="3931920"/>
            <a:ext cx="38404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5" name="Text 103"/>
          <p:cNvSpPr/>
          <p:nvPr/>
        </p:nvSpPr>
        <p:spPr>
          <a:xfrm>
            <a:off x="4279392" y="395935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J  —  Quality of Work &amp; Well-being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261104" y="427939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79392" y="433425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279392" y="43342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4663440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job satisfaction?  [Scale 1–5: Very dissatisfied → Very satisfied]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261104" y="462686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68172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79392" y="4681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6344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healthy work environment?  [Always / Mostly / Sometimes / Rarely / Never]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261104" y="497433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502920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79392" y="5029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63440" y="5010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at workplace last 12 months? [Harassment / Discrimination / Wage theft / Contract violation / None] — EI monitoring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4261104" y="532180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537667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279392" y="5376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466344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work-life balance?  [Yes / Somewhat / No]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400800" y="3931920"/>
            <a:ext cx="3840480" cy="2651760"/>
          </a:xfrm>
          <a:prstGeom prst="rect">
            <a:avLst/>
          </a:prstGeom>
          <a:solidFill>
            <a:srgbClr val="FAFB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400800" y="3931920"/>
            <a:ext cx="384048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4" name="Text 122"/>
          <p:cNvSpPr/>
          <p:nvPr/>
        </p:nvSpPr>
        <p:spPr>
          <a:xfrm>
            <a:off x="6473952" y="395935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K  —  Respondent Feedback on AI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6455664" y="4279392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73952" y="4334256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473952" y="43342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6858000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questions?  [Scale 1–5]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455664" y="4626864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73952" y="4681728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473952" y="4681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685800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with specific questions?  [No / Yes → specify]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455664" y="4974336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73952" y="5029200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73952" y="5029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858000" y="5010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human vs AI interviewer?  [AI fine / Indifferent / Preferred human]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455664" y="5321808"/>
            <a:ext cx="3730752" cy="310896"/>
          </a:xfrm>
          <a:prstGeom prst="rect">
            <a:avLst/>
          </a:prstGeom>
          <a:solidFill>
            <a:srgbClr val="F4F8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473952" y="5376672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473952" y="5376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685800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data confidentiality?  [Scale 1–5]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6455664" y="5669280"/>
            <a:ext cx="3730752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E5EAF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473952" y="5724144"/>
            <a:ext cx="347472" cy="182880"/>
          </a:xfrm>
          <a:prstGeom prst="roundRect">
            <a:avLst>
              <a:gd name="adj" fmla="val 7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473952" y="57241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6858000" y="5705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or suggestions? [Open text — NLP analysis]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6" name="Text 144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Survey Workflow — 6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respondent journey from authentication to data storage | Agent routing at each phase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27632"/>
            <a:ext cx="10972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731520" y="109728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856232"/>
            <a:ext cx="18288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" y="262432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Pass / OTP auth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" y="36118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" y="45994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 + consent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5586984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register lookup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61488" y="1097280"/>
            <a:ext cx="713232" cy="7132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212848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12848" y="1856232"/>
            <a:ext cx="182880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9" name="Text 27"/>
          <p:cNvSpPr/>
          <p:nvPr/>
        </p:nvSpPr>
        <p:spPr>
          <a:xfrm>
            <a:off x="2249424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04288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40864" y="2624328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data retrieved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04288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0864" y="3611880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Verify-then-Ask strategy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304288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40864" y="4599432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~40-50% Q reduction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04288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40864" y="5586984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correct fields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91456" y="1097280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4242816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42816" y="1856232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4279392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34256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70832" y="26243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0288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Manager drives flow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334256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36118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B → J in sequence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34256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70832" y="45994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90288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enforced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34256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70832" y="558698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0288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NER + NLU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21424" y="1097280"/>
            <a:ext cx="713232" cy="7132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1424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6272784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72784" y="1856232"/>
            <a:ext cx="18288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6309360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64224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0" y="262432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0256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at Q.C5 (4-stage)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64224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361188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0256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at Q.C6 (4-stage)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64224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0" y="459943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20256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ISCED at Q.B6 (2-stage)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364224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00800" y="558698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20256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score + top-3 shown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851392" y="1097280"/>
            <a:ext cx="713232" cy="7132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851392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8302752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302752" y="1856232"/>
            <a:ext cx="18288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0" name="Text 78"/>
          <p:cNvSpPr/>
          <p:nvPr/>
        </p:nvSpPr>
        <p:spPr>
          <a:xfrm>
            <a:off x="8339328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394192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30768" y="2624328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50224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checks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394192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30768" y="3611880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50224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with register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394192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30768" y="4599432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50224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 if conf&lt;0.70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394192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30768" y="5586984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50224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 random QC sample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0881360" y="1097280"/>
            <a:ext cx="713232" cy="7132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881360" y="1097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95" name="Shape 93"/>
          <p:cNvSpPr/>
          <p:nvPr/>
        </p:nvSpPr>
        <p:spPr>
          <a:xfrm>
            <a:off x="10332720" y="1856232"/>
            <a:ext cx="1828800" cy="4553712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10332720" y="1856232"/>
            <a:ext cx="18288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7" name="Text 95"/>
          <p:cNvSpPr/>
          <p:nvPr/>
        </p:nvSpPr>
        <p:spPr>
          <a:xfrm>
            <a:off x="10369296" y="187452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STORAGE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0424160" y="2295144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60736" y="262432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680192" y="2404872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stored (PostgreSQL)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424160" y="3282696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60736" y="361188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80192" y="3392424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(immutable log)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0424160" y="4270248"/>
            <a:ext cx="1645920" cy="868680"/>
          </a:xfrm>
          <a:prstGeom prst="rect">
            <a:avLst/>
          </a:prstGeom>
          <a:solidFill>
            <a:srgbClr val="F5F8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460736" y="459943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680192" y="4379976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cases → reviewers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0424160" y="5257800"/>
            <a:ext cx="1645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460736" y="558698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680192" y="536752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confirmation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2880" y="6419088"/>
            <a:ext cx="1179576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74320" y="6437376"/>
            <a:ext cx="109728" cy="173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0624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Auth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746504" y="6437376"/>
            <a:ext cx="109728" cy="1737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892808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Dialogue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218688" y="6437376"/>
            <a:ext cx="109728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364992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Language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690872" y="6437376"/>
            <a:ext cx="109728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837176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4: Register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163056" y="6437376"/>
            <a:ext cx="109728" cy="1737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09360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5: RAG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7635240" y="6437376"/>
            <a:ext cx="109728" cy="1737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81544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7: Validation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9107424" y="6437376"/>
            <a:ext cx="109728" cy="1737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253728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9: HITL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0579608" y="6437376"/>
            <a:ext cx="109728" cy="173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725912" y="6437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10: Audit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8" name="Text 126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RAG Workflow — ISCO-08 4-Stage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(Multi-Classification RAG Expert) | multilingual-e5-large embeddings | Qdrant vector database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920240"/>
            <a:ext cx="18288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9385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text)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1719072"/>
            <a:ext cx="1828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880" y="2615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"أطور تطبيقات ويب"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write mobile apps"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1920240"/>
            <a:ext cx="19202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19385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Enrichment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fusion)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171907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31720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Industry sector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Education level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Task description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192024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20700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Group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(1-digit, 10 groups)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98755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987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0" y="18836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candidates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"2 – Professionals"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0" y="2651760"/>
            <a:ext cx="19202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267004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Sub-Major Group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(2-digit, 43 groups)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245059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0" y="3346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| parent filter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"25 – ICT Professionals"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0" y="4114800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41330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Group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(3-digit, 130 groups)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91363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13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| parent filter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"251 – SW Developers"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0" y="5577840"/>
            <a:ext cx="19202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55961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Group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(4-digit, 436 groups)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537667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5376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0" y="62727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| parent filter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candidates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858000" y="3657600"/>
            <a:ext cx="192024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03720" y="36758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0" y="3456432"/>
            <a:ext cx="1920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RANK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58000" y="4352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unit group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reasoning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44000" y="3200400"/>
            <a:ext cx="1645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89720" y="321868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(≥0.70)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144000" y="2999232"/>
            <a:ext cx="1645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CONF?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144000" y="3895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 stages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972800" y="2560320"/>
            <a:ext cx="10058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1018520" y="257860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Database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972800" y="2359152"/>
            <a:ext cx="10058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0" y="2359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0972800" y="32552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≥ 0.70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972800" y="4389120"/>
            <a:ext cx="10058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1018520" y="440740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972800" y="4187952"/>
            <a:ext cx="10058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0" y="4187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0972800" y="50840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&lt; 0.70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011680" y="224028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76856" y="21579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51960" y="224028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7136" y="21579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59552" y="1508760"/>
            <a:ext cx="0" cy="32004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77256" y="17556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▼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559552" y="3291840"/>
            <a:ext cx="0" cy="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77256" y="32186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▼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559552" y="4754880"/>
            <a:ext cx="0" cy="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77256" y="46817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▼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492240" y="5897880"/>
            <a:ext cx="338328" cy="0"/>
          </a:xfrm>
          <a:prstGeom prst="line">
            <a:avLst/>
          </a:prstGeom>
          <a:noFill/>
          <a:ln w="22860">
            <a:solidFill>
              <a:srgbClr val="EA580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30568" y="3977640"/>
            <a:ext cx="0" cy="1920240"/>
          </a:xfrm>
          <a:prstGeom prst="line">
            <a:avLst/>
          </a:prstGeom>
          <a:noFill/>
          <a:ln w="22860">
            <a:solidFill>
              <a:srgbClr val="EA580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48272" y="39136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▲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778240" y="3977640"/>
            <a:ext cx="338328" cy="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89136" y="389534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▶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789920" y="3520440"/>
            <a:ext cx="155448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917936" y="343814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▶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789920" y="4709160"/>
            <a:ext cx="155448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917936" y="462686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▶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2880" y="6035040"/>
            <a:ext cx="411480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053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Bilingual Embedding Strategy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" y="6245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classification entry indexed with: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vector + AR vector → averaged → single bilingual vector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semantic matching regardless of input language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480560" y="6035040"/>
            <a:ext cx="3474720" cy="621792"/>
          </a:xfrm>
          <a:prstGeom prst="rect">
            <a:avLst/>
          </a:prstGeom>
          <a:solidFill>
            <a:srgbClr val="F0FF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0" y="6053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ISIC Rev.4 &amp; ISCED 2011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0" y="62453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(industry): Section→Division→Group→Class (4 stages)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ISCED (education): Level 0–8 + Field (ISCED-F 2013)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3" name="Text 81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Escalation Workflow — Agent 9 (Quality Manager)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escalation strategy | Active learning loop | Target: 10–15% escalation rate, ≥90% AI-human agreement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078992"/>
            <a:ext cx="5303520" cy="5440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78992"/>
            <a:ext cx="53035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514807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645920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87552" y="1554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Confidence &lt; 0.70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74650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across 4 stages below threshold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2029968"/>
            <a:ext cx="5148072" cy="457200"/>
          </a:xfrm>
          <a:prstGeom prst="rect">
            <a:avLst/>
          </a:prstGeom>
          <a:solidFill>
            <a:srgbClr val="FFF8F0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157984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157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87552" y="20665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Confidence &lt; 0.70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22585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classification uncertain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2542032"/>
            <a:ext cx="514807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670048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670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87552" y="25786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Validation Flags (≥2)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27706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errors detected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3054096"/>
            <a:ext cx="5148072" cy="457200"/>
          </a:xfrm>
          <a:prstGeom prst="rect">
            <a:avLst/>
          </a:prstGeom>
          <a:solidFill>
            <a:srgbClr val="FFF8F0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182112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182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87552" y="30906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Responses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328269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'unemployed' but describing current work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3566160"/>
            <a:ext cx="514807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3694176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87552" y="3602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Failure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7552" y="37947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80% confidence in language ID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4078224"/>
            <a:ext cx="5148072" cy="457200"/>
          </a:xfrm>
          <a:prstGeom prst="rect">
            <a:avLst/>
          </a:prstGeom>
          <a:solidFill>
            <a:srgbClr val="FFF8F0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206240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206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87552" y="4114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Distress Detected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430682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flags high-distress signal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4590288"/>
            <a:ext cx="514807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" y="4718304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4718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87552" y="46268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&gt; 90 sec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" y="48188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may be confused or struggling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5102352"/>
            <a:ext cx="5148072" cy="457200"/>
          </a:xfrm>
          <a:prstGeom prst="rect">
            <a:avLst/>
          </a:prstGeom>
          <a:solidFill>
            <a:srgbClr val="FFF8F0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" y="5230368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52303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87552" y="5138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QC Sample (5–10%)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87552" y="53309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quality check sample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6032" y="5614416"/>
            <a:ext cx="514807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0E0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" y="5742432"/>
            <a:ext cx="658368" cy="201168"/>
          </a:xfrm>
          <a:prstGeom prst="roundRect">
            <a:avLst>
              <a:gd name="adj" fmla="val 6363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" y="5742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87552" y="5650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Disagrees with Code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7552" y="584301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rejects AI ISCO suggestion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60720" y="1078992"/>
            <a:ext cx="6199632" cy="5440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60720" y="1078992"/>
            <a:ext cx="6199632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7" name="Text 55"/>
          <p:cNvSpPr/>
          <p:nvPr/>
        </p:nvSpPr>
        <p:spPr>
          <a:xfrm>
            <a:off x="5852160" y="1097280"/>
            <a:ext cx="601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ROUTING &amp; ACTIVE LEARNING LOOP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943600" y="1572768"/>
            <a:ext cx="182880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980176" y="16093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29600" y="1572768"/>
            <a:ext cx="182880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266176" y="16093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Built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515600" y="1572768"/>
            <a:ext cx="13258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0552176" y="1609344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43600" y="2788920"/>
            <a:ext cx="18288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980176" y="282549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 ≥ 0.70)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29600" y="2788920"/>
            <a:ext cx="1828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266176" y="282549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515600" y="2788920"/>
            <a:ext cx="132588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0552176" y="2825496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0" y="4005072"/>
            <a:ext cx="18288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980176" y="404164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229600" y="4005072"/>
            <a:ext cx="182880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266176" y="404164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515600" y="4005072"/>
            <a:ext cx="132588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0552176" y="404164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772400" y="1847088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83880" y="176479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058400" y="1847088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469880" y="176479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772400" y="3063240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83880" y="298094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0058400" y="3063240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69880" y="298094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772400" y="4279392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83880" y="41970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058400" y="4279392"/>
            <a:ext cx="4297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469880" y="41970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943600" y="5577840"/>
            <a:ext cx="1389888" cy="658368"/>
          </a:xfrm>
          <a:prstGeom prst="rect">
            <a:avLst/>
          </a:prstGeom>
          <a:solidFill>
            <a:srgbClr val="F0F4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5980176" y="5596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5980176" y="5943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Escalation Rate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406640" y="5577840"/>
            <a:ext cx="1389888" cy="658368"/>
          </a:xfrm>
          <a:prstGeom prst="rect">
            <a:avLst/>
          </a:prstGeom>
          <a:solidFill>
            <a:srgbClr val="F0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443216" y="5596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/ case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7443216" y="5943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Review Time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869680" y="5577840"/>
            <a:ext cx="1389888" cy="658368"/>
          </a:xfrm>
          <a:prstGeom prst="rect">
            <a:avLst/>
          </a:prstGeom>
          <a:solidFill>
            <a:srgbClr val="F0F4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8906256" y="5596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8906256" y="5943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AI-Human Agreement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0332720" y="5577840"/>
            <a:ext cx="1389888" cy="658368"/>
          </a:xfrm>
          <a:prstGeom prst="rect">
            <a:avLst/>
          </a:prstGeom>
          <a:solidFill>
            <a:srgbClr val="F0F4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10369296" y="55961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&lt; 0.70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10369296" y="5943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(ISCO)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1" name="Text 99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CrewAI Architecture — Roles &amp; Interactions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Process orchestration | Each agent has dedicated LLM, tools &amp; performance targets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1097280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97280"/>
            <a:ext cx="219456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143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" y="1124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Privacy Manager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" y="1481328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1481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0312" y="1737360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95% privacy comprehension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21031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Pass OAuth · Email OTP · SMS OTP · Privacy Notice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95728" y="1097280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1097280"/>
            <a:ext cx="2194560" cy="32918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2432304" y="1143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24912" y="1124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Conversation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1481328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481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68880" y="1737360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100% flow accuracy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87168" y="21031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control · Skip logic · State management · Section routing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45152" y="1097280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1097280"/>
            <a:ext cx="219456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1143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74336" y="1124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Language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18304" y="1481328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481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18304" y="1737360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≥98% lang detect · ≥92% F1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36592" y="21031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languages · Code-switch detection · Named Entity Recognition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903720" y="1097280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097280"/>
            <a:ext cx="219456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940296" y="1143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32904" y="1124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Register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76872" y="1481328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1481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3.5 Sonnet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76872" y="1737360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40-50% Q reduction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95160" y="21031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Verify-then-Ask · Change detection · Adaptive questioning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162288" y="1097280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62288" y="1097280"/>
            <a:ext cx="2194560" cy="32918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9198864" y="1143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91472" y="1124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Multi-Classification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Expert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35440" y="1481328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1481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3.5 Sonnet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235440" y="1737360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5372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≥85% top-1 · ≥92% top-3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253728" y="21031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4-stage · ISIC 4-stage · ISCED 2-stage · Qdrant search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37160" y="3822192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37160" y="3822192"/>
            <a:ext cx="2194560" cy="32918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4" name="Text 52"/>
          <p:cNvSpPr/>
          <p:nvPr/>
        </p:nvSpPr>
        <p:spPr>
          <a:xfrm>
            <a:off x="173736" y="3867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66344" y="38496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0312" y="4206240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" y="42062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0312" y="4462272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E91E8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≥80% accuracy · 25% abandon↓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28600" y="48280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· Adaptive tone · Cultural sensitivity · Escalation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395728" y="3822192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395728" y="3822192"/>
            <a:ext cx="219456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1"/>
          <p:cNvSpPr/>
          <p:nvPr/>
        </p:nvSpPr>
        <p:spPr>
          <a:xfrm>
            <a:off x="2432304" y="3867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2724912" y="38496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468880" y="4206240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42062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3.5 Sonnet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468880" y="4462272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87168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≥90% detect · ≤15% FP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487168" y="48280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 · Outlier detection · Register cross-validation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645152" y="3822192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45152" y="3822192"/>
            <a:ext cx="2194560" cy="3291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2" name="Text 70"/>
          <p:cNvSpPr/>
          <p:nvPr/>
        </p:nvSpPr>
        <p:spPr>
          <a:xfrm>
            <a:off x="4681728" y="3867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974336" y="38496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718304" y="4206240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18304" y="42062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18304" y="4462272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36592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7-year retention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736592" y="48280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(short-term) · PostgreSQL (long-term) · Preferences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903720" y="3822192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903720" y="3822192"/>
            <a:ext cx="219456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1" name="Text 79"/>
          <p:cNvSpPr/>
          <p:nvPr/>
        </p:nvSpPr>
        <p:spPr>
          <a:xfrm>
            <a:off x="6940296" y="3867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232904" y="38496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Quality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976872" y="4206240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76872" y="42062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976872" y="4462272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9516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10-15% rate · ≥90% agreement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995160" y="48280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escalation · Active learning · Reviewer routing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162288" y="3822192"/>
            <a:ext cx="2194560" cy="2487168"/>
          </a:xfrm>
          <a:prstGeom prst="rect">
            <a:avLst/>
          </a:prstGeom>
          <a:solidFill>
            <a:srgbClr val="142040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162288" y="3822192"/>
            <a:ext cx="2194560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0" name="Text 88"/>
          <p:cNvSpPr/>
          <p:nvPr/>
        </p:nvSpPr>
        <p:spPr>
          <a:xfrm>
            <a:off x="9198864" y="38679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9491472" y="38496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235440" y="4206240"/>
            <a:ext cx="2048256" cy="201168"/>
          </a:xfrm>
          <a:prstGeom prst="roundRect">
            <a:avLst>
              <a:gd name="adj" fmla="val 63636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35440" y="42062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235440" y="4462272"/>
            <a:ext cx="2048256" cy="292608"/>
          </a:xfrm>
          <a:prstGeom prst="rect">
            <a:avLst/>
          </a:prstGeom>
          <a:solidFill>
            <a:srgbClr val="0A1830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253728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10-year retention · zero loss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253728" y="482803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· Regulatory compliance · Apache Kafka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37160" y="6473952"/>
            <a:ext cx="11850624" cy="182880"/>
          </a:xfrm>
          <a:prstGeom prst="rect">
            <a:avLst/>
          </a:prstGeom>
          <a:solidFill>
            <a:srgbClr val="0A153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8600" y="6473952"/>
            <a:ext cx="1170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CrewAI Framework | Hierarchical Process | Shared Memory (Redis) | LangSmith Observability | Docker/Kubernetes Infrastructure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0" name="Text 98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Evaluation Framework &amp; Thesis Targets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RQ1–RQ5 aligned metrics | Comparison: Hierarchical RAG vs BM25 vs Flat Vector baselines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0" y="91440"/>
            <a:ext cx="1188720" cy="502920"/>
          </a:xfrm>
          <a:prstGeom prst="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73152" cy="12344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75-85% manual coding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176272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76272" y="1078992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304288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04288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04288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selection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51376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51376" y="1078992"/>
            <a:ext cx="73152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≥0.80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279392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κ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79392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inter-coder agreement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78992"/>
            <a:ext cx="73152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54496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54496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automation balance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101584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01584" y="1078992"/>
            <a:ext cx="73152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229600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Turn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0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 second UX target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076688" y="1078992"/>
            <a:ext cx="1865376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76688" y="1078992"/>
            <a:ext cx="73152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10204704" y="1115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0204704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Duration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04704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17min vs 25-30min F2F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01168" y="2514600"/>
            <a:ext cx="77724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2514600"/>
            <a:ext cx="7772400" cy="3200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2532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 — RQ2 Evaluation (ISCO-08)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2907792"/>
            <a:ext cx="1115568" cy="292608"/>
          </a:xfrm>
          <a:prstGeom prst="rect">
            <a:avLst/>
          </a:prstGeom>
          <a:solidFill>
            <a:srgbClr val="1A3060"/>
          </a:solidFill>
          <a:ln w="10160">
            <a:solidFill>
              <a:srgbClr val="305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290779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17320" y="2907792"/>
            <a:ext cx="1234440" cy="292608"/>
          </a:xfrm>
          <a:prstGeom prst="rect">
            <a:avLst/>
          </a:prstGeom>
          <a:solidFill>
            <a:srgbClr val="1A3060"/>
          </a:solidFill>
          <a:ln w="10160">
            <a:solidFill>
              <a:srgbClr val="3050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53896" y="290779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97480" y="2907792"/>
            <a:ext cx="1444752" cy="292608"/>
          </a:xfrm>
          <a:prstGeom prst="rect">
            <a:avLst/>
          </a:prstGeom>
          <a:solidFill>
            <a:srgbClr val="1A3060"/>
          </a:solidFill>
          <a:ln w="10160">
            <a:solidFill>
              <a:srgbClr val="3050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34056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87952" y="2907792"/>
            <a:ext cx="1435608" cy="292608"/>
          </a:xfrm>
          <a:prstGeom prst="rect">
            <a:avLst/>
          </a:prstGeom>
          <a:solidFill>
            <a:srgbClr val="1A3060"/>
          </a:solidFill>
          <a:ln w="10160">
            <a:solidFill>
              <a:srgbClr val="3050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24528" y="29077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Vector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0" y="2907792"/>
            <a:ext cx="2231136" cy="292608"/>
          </a:xfrm>
          <a:prstGeom prst="rect">
            <a:avLst/>
          </a:prstGeom>
          <a:solidFill>
            <a:srgbClr val="1A3060"/>
          </a:solidFill>
          <a:ln w="10160">
            <a:solidFill>
              <a:srgbClr val="3050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05856" y="29077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RAG ★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3236976"/>
            <a:ext cx="111556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32552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417320" y="3236976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53896" y="3255264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697480" y="3236976"/>
            <a:ext cx="144475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34056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~50-60%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87952" y="3236976"/>
            <a:ext cx="143560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24528" y="32552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~70-75%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0" y="3236976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05856" y="325526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85-92% 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" y="3621024"/>
            <a:ext cx="111556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363931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3621024"/>
            <a:ext cx="1234440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363931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697480" y="3621024"/>
            <a:ext cx="1444752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34056" y="3639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~70-75%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187952" y="3621024"/>
            <a:ext cx="143560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24528" y="363931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~85-88%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669280" y="3621024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05856" y="363931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95-98% ✓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6032" y="4005072"/>
            <a:ext cx="111556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2608" y="402336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417320" y="4005072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53896" y="402336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697480" y="4005072"/>
            <a:ext cx="144475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34056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187952" y="4005072"/>
            <a:ext cx="143560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24528" y="40233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669280" y="4005072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05856" y="40233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0.81-0.88 ✓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4389120"/>
            <a:ext cx="111556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2608" y="440740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Rate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417320" y="4389120"/>
            <a:ext cx="1234440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453896" y="4407408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697480" y="4389120"/>
            <a:ext cx="1444752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34056" y="4407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187952" y="4389120"/>
            <a:ext cx="143560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24528" y="440740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669280" y="4389120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05856" y="4407408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12-14% ✓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56032" y="4773168"/>
            <a:ext cx="111556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2608" y="479145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(ms)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417320" y="4773168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453896" y="479145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697480" y="4773168"/>
            <a:ext cx="144475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34056" y="4791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~85ms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187952" y="4773168"/>
            <a:ext cx="143560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24528" y="4791456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~210ms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669280" y="4773168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05856" y="479145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~950-1400ms ✓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56032" y="5157216"/>
            <a:ext cx="111556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92608" y="517550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417320" y="5157216"/>
            <a:ext cx="1234440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453896" y="5175504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697480" y="5157216"/>
            <a:ext cx="1444752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34056" y="5175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only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187952" y="5157216"/>
            <a:ext cx="1435608" cy="365760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24528" y="51755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669280" y="5157216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705856" y="517550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91-95% ✓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56032" y="5541264"/>
            <a:ext cx="111556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2608" y="55595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F1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417320" y="5541264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453896" y="555955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88%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697480" y="5541264"/>
            <a:ext cx="144475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34056" y="5559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187952" y="5541264"/>
            <a:ext cx="1435608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224528" y="555955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669280" y="5541264"/>
            <a:ext cx="2231136" cy="365760"/>
          </a:xfrm>
          <a:prstGeom prst="rect">
            <a:avLst/>
          </a:prstGeom>
          <a:solidFill>
            <a:srgbClr val="F0FFF4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05856" y="555955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88-93% ✓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247888" y="2514600"/>
            <a:ext cx="3712464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8247888" y="2514600"/>
            <a:ext cx="37124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2" name="Text 120"/>
          <p:cNvSpPr/>
          <p:nvPr/>
        </p:nvSpPr>
        <p:spPr>
          <a:xfrm>
            <a:off x="832104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Metrics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321040" y="2907792"/>
            <a:ext cx="35661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F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339328" y="3072384"/>
            <a:ext cx="402336" cy="201168"/>
          </a:xfrm>
          <a:prstGeom prst="roundRect">
            <a:avLst>
              <a:gd name="adj" fmla="val 6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339328" y="30723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8778240" y="2944368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778240" y="3136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Nonresponse rate reduction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rate reduction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10625328" y="2999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↓ / 40-50% ↓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8321040" y="3529584"/>
            <a:ext cx="3566160" cy="566928"/>
          </a:xfrm>
          <a:prstGeom prst="rect">
            <a:avLst/>
          </a:prstGeom>
          <a:solidFill>
            <a:srgbClr val="F8F6FF"/>
          </a:solidFill>
          <a:ln w="10160">
            <a:solidFill>
              <a:srgbClr val="E8E0F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339328" y="3694176"/>
            <a:ext cx="402336" cy="201168"/>
          </a:xfrm>
          <a:prstGeom prst="roundRect">
            <a:avLst>
              <a:gd name="adj" fmla="val 6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339328" y="36941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8778240" y="356616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Accuracy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8778240" y="3758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Top-1/3 accuracy, Cohen's κ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distribution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10625328" y="3621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/ ≥95% / ≥0.80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8321040" y="4151376"/>
            <a:ext cx="35661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F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339328" y="4315968"/>
            <a:ext cx="402336" cy="201168"/>
          </a:xfrm>
          <a:prstGeom prst="roundRect">
            <a:avLst>
              <a:gd name="adj" fmla="val 6363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339328" y="431596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8778240" y="418795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Quality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8778240" y="4379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 detection F1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by language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1062532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≥92% F1 / ≥90% rate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8321040" y="4773168"/>
            <a:ext cx="3566160" cy="566928"/>
          </a:xfrm>
          <a:prstGeom prst="rect">
            <a:avLst/>
          </a:prstGeom>
          <a:solidFill>
            <a:srgbClr val="F8F6FF"/>
          </a:solidFill>
          <a:ln w="10160">
            <a:solidFill>
              <a:srgbClr val="E8E0F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39328" y="4937760"/>
            <a:ext cx="402336" cy="201168"/>
          </a:xfrm>
          <a:prstGeom prst="roundRect">
            <a:avLst>
              <a:gd name="adj" fmla="val 6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339328" y="49377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8778240" y="480974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Efficiency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8778240" y="50017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rate, review time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AI-human agreement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10625328" y="48646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/ &lt;3min / ≥90%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8321040" y="5394960"/>
            <a:ext cx="35661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F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339328" y="5559552"/>
            <a:ext cx="402336" cy="201168"/>
          </a:xfrm>
          <a:prstGeom prst="roundRect">
            <a:avLst>
              <a:gd name="adj" fmla="val 6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339328" y="5559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8778240" y="543153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8778240" y="5623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rate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10625328" y="54864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detect / ≤15% FP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54" name="Text 152"/>
          <p:cNvSpPr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| Conversational AI System | IIIT Kottayam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Designed &amp; Built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75895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91440" cy="1828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84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63 Bilingual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sections covering full ILO LFS scope | Arabic + English + 3 more languages | Skip logic &amp; validation at every step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87452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984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6 Organized Workflows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40487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→ Pre-fill → Interview → RAG Classification → Validation → Completion | 6 clear phases with agent handoffs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874520"/>
            <a:ext cx="91440" cy="1828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984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4-Stage Hierarchical 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40487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ISCO-08: Major→Sub-major→Minor→Unit | ISIC Rev.4: Section→Division→Group→Class | ISCED: Level→Field | All bilingual-indexed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91440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10-Agent CrewAI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1655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dedicated LLM, tools &amp; performance targets | Hierarchical orchestration | LangSmith observability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388620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3886200"/>
            <a:ext cx="91440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HITL Quality Assurance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441655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escalation triggers | Active learning loop | Target: 10-15% rate, ≥90% AI-human agreement, &lt;3 min review 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55280" y="3886200"/>
            <a:ext cx="3566160" cy="1828800"/>
          </a:xfrm>
          <a:prstGeom prst="rect">
            <a:avLst/>
          </a:prstGeom>
          <a:solidFill>
            <a:srgbClr val="1A2E5A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3886200"/>
            <a:ext cx="91440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Thesis Evaluation Framework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441655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comparison: BM25 vs Flat Vector vs Hierarchical RAG | RQ1–RQ5 metrics | 200-participant pilot study design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Thesis | IIIT Kottayam 2026 | Supervisor: Dr. Goutam Mali | Multilingual Conversational AI for Labour Force Surveys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UAE LFS Conversational AI — Questionnaire &amp; Workflows</dc:title>
  <dc:subject>PptxGenJS Presentation</dc:subject>
  <dc:creator>IIIT Kottayam M.Tech Thesis 2026</dc:creator>
  <cp:lastModifiedBy>IIIT Kottayam M.Tech Thesis 2026</cp:lastModifiedBy>
  <cp:revision>1</cp:revision>
  <dcterms:created xsi:type="dcterms:W3CDTF">2026-03-08T00:29:35Z</dcterms:created>
  <dcterms:modified xsi:type="dcterms:W3CDTF">2026-03-08T00:29:35Z</dcterms:modified>
</cp:coreProperties>
</file>